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evaluators. Today I present our Cloud Computing project on "Assuring Fault-Tolerance through VM Migration-Based Load Balancing in the Cloud". This project evaluates how proactive and reactive virtual machine migrations mitigate host hotspots and catastrophic hardware failures. The entire simulation runs purely client-side in browser memory with zero external cloud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 formulate the core academic problem. Cloud tenants experience unpredictable traffic spikes. When physical hosts get saturated, performance tanks. Furthermore, if a physical server fails, high-availability requires rapid recovery placement on healthy surviving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highlight why our simulator fills an important engineering need. Real cloud experiments with 10+ bare metal servers cost significant money and cannot be easily reproduced. Our solution models mathematical fidelity right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encompasses five concrete milestones: accurate modeling, proactive threshold management, multi-heuristic placement, fault-tolerance emergency evacuation, and rigorous empirical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Evaluators often ask: "Is this IaaS or PaaS?" The website is hosted using Cloudflare Pages (PaaS/JAMstack), but the subject under study is IaaS virtualization. TypeScript ensures strict data integrity across all host and VM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diagram demonstrates clear separation of concerns. The User interacts with the UI, which triggers actions in the React simulation engine. The core modules update memory state, which feeds reactive charts and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three algorithms: First Fit for minimal compute overhead, Best Fit for bin-packing density, and Least Loaded for cluster variance minimization. Notice the weighted multi-resource formula: 50% CPU, 40% RAM, 10%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migration workflow follows strict atomic steps. We guarantee that a VM is never duplicated and cannot exist in two places simultaneously. Our anti-oscillation mechanism prevents the classic ping-pong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 tolerance is tested by injecting a catastrophic host crash. Notice our strict academic rule: if surviving hosts lack capacity, VMs are truthfully recorded as unrecovered. We never invent fake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Experiment Lab features 5 repeatable, controlled benchmarks. To ensure academic rigor, each run uses an isolated deep clone of the initial state so algorithm mutations never contaminate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our actual benchmark results. Least Loaded achieved the lowest load variance (4.6 vs 18.4 in static allocation) and eliminated hotspots. Downtime averaged under 150 milliseconds per live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cost analysis differentiates the hypothetical IaaS cost model (which demonstrates 33% power savings from server consolidation) from the actual hosting bill on Cloudflare Pages ($0.00 on the Free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demonstrates engineering maturity. We acknowledge that memory bitmasks are simulated and network links assume nominal bandwidth. In future work, this engine could drive real OpenStack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aspect of our project directly aligns with the 15-mark assessment rubric: 2 marks for analysis, 8 marks for working execution, 2 marks for evaluation, and 3 marks for viva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have built a fully functional, mathematically defensible cloud infrastructure simulator that proves the value of VM migration for both load balancing and fault tolerance. Thank you for your time, and I am pleased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CLOUD COMPUTING CASE STUDY ASSESSMENT</a:t>
            </a:r>
            <a:endParaRPr lang="en-US" sz="1000" dirty="0"/>
          </a:p>
        </p:txBody>
      </p:sp>
      <p:sp>
        <p:nvSpPr>
          <p:cNvPr id="3" name="Text 1"/>
          <p:cNvSpPr/>
          <p:nvPr/>
        </p:nvSpPr>
        <p:spPr>
          <a:xfrm>
            <a:off x="548640" y="777240"/>
            <a:ext cx="8046720" cy="1188720"/>
          </a:xfrm>
          <a:prstGeom prst="rect">
            <a:avLst/>
          </a:prstGeom>
          <a:noFill/>
          <a:ln/>
        </p:spPr>
        <p:txBody>
          <a:bodyPr wrap="square" rtlCol="0" anchor="ctr"/>
          <a:lstStyle/>
          <a:p>
            <a:pPr indent="0" marL="0">
              <a:lnSpc>
                <a:spcPts val="2800"/>
              </a:lnSpc>
              <a:buNone/>
            </a:pPr>
            <a:r>
              <a:rPr lang="en-US" sz="2400" b="1" dirty="0">
                <a:solidFill>
                  <a:srgbClr val="F8FAFC"/>
                </a:solidFill>
                <a:latin typeface="Arial" pitchFamily="34" charset="0"/>
                <a:ea typeface="Arial" pitchFamily="34" charset="-122"/>
                <a:cs typeface="Arial" pitchFamily="34" charset="-120"/>
              </a:rPr>
              <a:t>Assuring Fault-Tolerance through</a:t>
            </a:r>
            <a:endParaRPr lang="en-US" sz="2400" dirty="0"/>
          </a:p>
          <a:p>
            <a:pPr indent="0" marL="0">
              <a:lnSpc>
                <a:spcPts val="2800"/>
              </a:lnSpc>
              <a:buNone/>
            </a:pPr>
            <a:r>
              <a:rPr lang="en-US" sz="2400" b="1" dirty="0">
                <a:solidFill>
                  <a:srgbClr val="F8FAFC"/>
                </a:solidFill>
                <a:latin typeface="Arial" pitchFamily="34" charset="0"/>
                <a:ea typeface="Arial" pitchFamily="34" charset="-122"/>
                <a:cs typeface="Arial" pitchFamily="34" charset="-120"/>
              </a:rPr>
              <a:t>VM Migration-Based Load Balancing</a:t>
            </a:r>
            <a:endParaRPr lang="en-US" sz="2400" dirty="0"/>
          </a:p>
          <a:p>
            <a:pPr indent="0" marL="0">
              <a:lnSpc>
                <a:spcPts val="2800"/>
              </a:lnSpc>
              <a:buNone/>
            </a:pPr>
            <a:r>
              <a:rPr lang="en-US" sz="2400" b="1" dirty="0">
                <a:solidFill>
                  <a:srgbClr val="F8FAFC"/>
                </a:solidFill>
                <a:latin typeface="Arial" pitchFamily="34" charset="0"/>
                <a:ea typeface="Arial" pitchFamily="34" charset="-122"/>
                <a:cs typeface="Arial" pitchFamily="34" charset="-120"/>
              </a:rPr>
              <a:t>in the Cloud</a:t>
            </a:r>
            <a:endParaRPr lang="en-US" sz="2400" dirty="0"/>
          </a:p>
        </p:txBody>
      </p:sp>
      <p:sp>
        <p:nvSpPr>
          <p:cNvPr id="4" name="Text 2"/>
          <p:cNvSpPr/>
          <p:nvPr/>
        </p:nvSpPr>
        <p:spPr>
          <a:xfrm>
            <a:off x="548640" y="2057400"/>
            <a:ext cx="8046720" cy="320040"/>
          </a:xfrm>
          <a:prstGeom prst="rect">
            <a:avLst/>
          </a:prstGeom>
          <a:noFill/>
          <a:ln/>
        </p:spPr>
        <p:txBody>
          <a:bodyPr wrap="square" rtlCol="0" anchor="ctr"/>
          <a:lstStyle/>
          <a:p>
            <a:pPr indent="0" marL="0">
              <a:buNone/>
            </a:pPr>
            <a:r>
              <a:rPr lang="en-US" sz="1300" dirty="0">
                <a:solidFill>
                  <a:srgbClr val="10B981"/>
                </a:solidFill>
                <a:latin typeface="Arial" pitchFamily="34" charset="0"/>
                <a:ea typeface="Arial" pitchFamily="34" charset="-122"/>
                <a:cs typeface="Arial" pitchFamily="34" charset="-120"/>
              </a:rPr>
              <a:t>An Interactive Browser-Based Cloud Infrastructure Simulator &amp; Evaluator</a:t>
            </a:r>
            <a:endParaRPr lang="en-US" sz="1300" dirty="0"/>
          </a:p>
        </p:txBody>
      </p:sp>
      <p:sp>
        <p:nvSpPr>
          <p:cNvPr id="5" name="Shape 3"/>
          <p:cNvSpPr/>
          <p:nvPr/>
        </p:nvSpPr>
        <p:spPr>
          <a:xfrm>
            <a:off x="548640" y="2514600"/>
            <a:ext cx="8046720" cy="2103120"/>
          </a:xfrm>
          <a:prstGeom prst="roundRect">
            <a:avLst>
              <a:gd name="adj" fmla="val 3478"/>
            </a:avLst>
          </a:prstGeom>
          <a:solidFill>
            <a:srgbClr val="0F172A"/>
          </a:solidFill>
          <a:ln w="12700">
            <a:solidFill>
              <a:srgbClr val="334155"/>
            </a:solidFill>
            <a:prstDash val="solid"/>
          </a:ln>
        </p:spPr>
      </p:sp>
      <p:sp>
        <p:nvSpPr>
          <p:cNvPr id="6" name="Text 4"/>
          <p:cNvSpPr/>
          <p:nvPr/>
        </p:nvSpPr>
        <p:spPr>
          <a:xfrm>
            <a:off x="822960" y="2651760"/>
            <a:ext cx="7498080" cy="1828800"/>
          </a:xfrm>
          <a:prstGeom prst="rect">
            <a:avLst/>
          </a:prstGeom>
          <a:noFill/>
          <a:ln/>
        </p:spPr>
        <p:txBody>
          <a:bodyPr wrap="square" rtlCol="0" anchor="ctr"/>
          <a:lstStyle/>
          <a:p>
            <a:pPr indent="0" marL="0">
              <a:lnSpc>
                <a:spcPts val="1800"/>
              </a:lnSpc>
              <a:buNone/>
            </a:pPr>
            <a:r>
              <a:rPr lang="en-US" sz="1100" b="1" dirty="0">
                <a:solidFill>
                  <a:srgbClr val="F8FAFC"/>
                </a:solidFill>
                <a:latin typeface="Arial" pitchFamily="34" charset="0"/>
                <a:ea typeface="Arial" pitchFamily="34" charset="-122"/>
                <a:cs typeface="Arial" pitchFamily="34" charset="-120"/>
              </a:rPr>
              <a:t>Student Name: </a:t>
            </a:r>
            <a:pPr indent="0" marL="0">
              <a:lnSpc>
                <a:spcPts val="1800"/>
              </a:lnSpc>
              <a:buNone/>
            </a:pPr>
            <a:r>
              <a:rPr lang="en-US" sz="1100" b="1" dirty="0">
                <a:solidFill>
                  <a:srgbClr val="06B6D4"/>
                </a:solidFill>
                <a:latin typeface="Arial" pitchFamily="34" charset="0"/>
                <a:ea typeface="Arial" pitchFamily="34" charset="-122"/>
                <a:cs typeface="Arial" pitchFamily="34" charset="-120"/>
              </a:rPr>
              <a:t>Aaditya Gupta
</a:t>
            </a:r>
            <a:pPr indent="0" marL="0">
              <a:lnSpc>
                <a:spcPts val="1800"/>
              </a:lnSpc>
              <a:buNone/>
            </a:pPr>
            <a:r>
              <a:rPr lang="en-US" sz="1100" b="1" dirty="0">
                <a:solidFill>
                  <a:srgbClr val="F8FAFC"/>
                </a:solidFill>
                <a:latin typeface="Arial" pitchFamily="34" charset="0"/>
                <a:ea typeface="Arial" pitchFamily="34" charset="-122"/>
                <a:cs typeface="Arial" pitchFamily="34" charset="-120"/>
              </a:rPr>
              <a:t>Registration Number: </a:t>
            </a:r>
            <a:pPr indent="0" marL="0">
              <a:lnSpc>
                <a:spcPts val="1800"/>
              </a:lnSpc>
              <a:buNone/>
            </a:pPr>
            <a:r>
              <a:rPr lang="en-US" sz="1100" b="1" dirty="0">
                <a:solidFill>
                  <a:srgbClr val="06B6D4"/>
                </a:solidFill>
                <a:latin typeface="Arial" pitchFamily="34" charset="0"/>
                <a:ea typeface="Arial" pitchFamily="34" charset="-122"/>
                <a:cs typeface="Arial" pitchFamily="34" charset="-120"/>
              </a:rPr>
              <a:t>RA2311003011388
</a:t>
            </a:r>
            <a:pPr indent="0" marL="0">
              <a:lnSpc>
                <a:spcPts val="1800"/>
              </a:lnSpc>
              <a:buNone/>
            </a:pPr>
            <a:r>
              <a:rPr lang="en-US" sz="1100" b="1" dirty="0">
                <a:solidFill>
                  <a:srgbClr val="F8FAFC"/>
                </a:solidFill>
                <a:latin typeface="Arial" pitchFamily="34" charset="0"/>
                <a:ea typeface="Arial" pitchFamily="34" charset="-122"/>
                <a:cs typeface="Arial" pitchFamily="34" charset="-120"/>
              </a:rPr>
              <a:t>Degree / Program: </a:t>
            </a:r>
            <a:pPr indent="0" marL="0">
              <a:lnSpc>
                <a:spcPts val="1800"/>
              </a:lnSpc>
              <a:buNone/>
            </a:pPr>
            <a:r>
              <a:rPr lang="en-US" sz="1100" dirty="0">
                <a:solidFill>
                  <a:srgbClr val="94A3B8"/>
                </a:solidFill>
                <a:latin typeface="Arial" pitchFamily="34" charset="0"/>
                <a:ea typeface="Arial" pitchFamily="34" charset="-122"/>
                <a:cs typeface="Arial" pitchFamily="34" charset="-120"/>
              </a:rPr>
              <a:t>B.Tech in Computer Science &amp; Engineering
</a:t>
            </a:r>
            <a:pPr indent="0" marL="0">
              <a:lnSpc>
                <a:spcPts val="1800"/>
              </a:lnSpc>
              <a:buNone/>
            </a:pPr>
            <a:r>
              <a:rPr lang="en-US" sz="1100" b="1" dirty="0">
                <a:solidFill>
                  <a:srgbClr val="F8FAFC"/>
                </a:solidFill>
                <a:latin typeface="Arial" pitchFamily="34" charset="0"/>
                <a:ea typeface="Arial" pitchFamily="34" charset="-122"/>
                <a:cs typeface="Arial" pitchFamily="34" charset="-120"/>
              </a:rPr>
              <a:t>Course / Subject: </a:t>
            </a:r>
            <a:pPr indent="0" marL="0">
              <a:lnSpc>
                <a:spcPts val="1800"/>
              </a:lnSpc>
              <a:buNone/>
            </a:pPr>
            <a:r>
              <a:rPr lang="en-US" sz="1100" dirty="0">
                <a:solidFill>
                  <a:srgbClr val="94A3B8"/>
                </a:solidFill>
                <a:latin typeface="Arial" pitchFamily="34" charset="0"/>
                <a:ea typeface="Arial" pitchFamily="34" charset="-122"/>
                <a:cs typeface="Arial" pitchFamily="34" charset="-120"/>
              </a:rPr>
              <a:t>Cloud Computing
</a:t>
            </a:r>
            <a:pPr indent="0" marL="0">
              <a:lnSpc>
                <a:spcPts val="1800"/>
              </a:lnSpc>
              <a:buNone/>
            </a:pPr>
            <a:r>
              <a:rPr lang="en-US" sz="1100" b="1" dirty="0">
                <a:solidFill>
                  <a:srgbClr val="F8FAFC"/>
                </a:solidFill>
                <a:latin typeface="Arial" pitchFamily="34" charset="0"/>
                <a:ea typeface="Arial" pitchFamily="34" charset="-122"/>
                <a:cs typeface="Arial" pitchFamily="34" charset="-120"/>
              </a:rPr>
              <a:t>Deployment Platform: </a:t>
            </a:r>
            <a:pPr indent="0" marL="0">
              <a:lnSpc>
                <a:spcPts val="1800"/>
              </a:lnSpc>
              <a:buNone/>
            </a:pPr>
            <a:r>
              <a:rPr lang="en-US" sz="1100" dirty="0">
                <a:solidFill>
                  <a:srgbClr val="10B981"/>
                </a:solidFill>
                <a:latin typeface="Arial" pitchFamily="34" charset="0"/>
                <a:ea typeface="Arial" pitchFamily="34" charset="-122"/>
                <a:cs typeface="Arial" pitchFamily="34" charset="-120"/>
              </a:rPr>
              <a:t>Cloudflare Pages (Pure Browser In-Memory Simulation)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Abstract &amp; Problem Statement</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sp>
      <p:sp>
        <p:nvSpPr>
          <p:cNvPr id="7" name="Text 5"/>
          <p:cNvSpPr/>
          <p:nvPr/>
        </p:nvSpPr>
        <p:spPr>
          <a:xfrm>
            <a:off x="731520" y="1234440"/>
            <a:ext cx="3520440" cy="274320"/>
          </a:xfrm>
          <a:prstGeom prst="rect">
            <a:avLst/>
          </a:prstGeom>
          <a:noFill/>
          <a:ln/>
        </p:spPr>
        <p:txBody>
          <a:bodyPr wrap="square" rtlCol="0" anchor="ctr"/>
          <a:lstStyle/>
          <a:p>
            <a:pPr indent="0" marL="0">
              <a:buNone/>
            </a:pPr>
            <a:r>
              <a:rPr lang="en-US" sz="1300" b="1" dirty="0">
                <a:solidFill>
                  <a:srgbClr val="06B6D4"/>
                </a:solidFill>
                <a:latin typeface="Arial" pitchFamily="34" charset="0"/>
                <a:ea typeface="Arial" pitchFamily="34" charset="-122"/>
                <a:cs typeface="Arial" pitchFamily="34" charset="-120"/>
              </a:rPr>
              <a:t>Project Abstract</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indent="0" marL="0">
              <a:lnSpc>
                <a:spcPts val="1400"/>
              </a:lnSpc>
              <a:buNone/>
            </a:pPr>
            <a:r>
              <a:rPr lang="en-US" sz="950" dirty="0">
                <a:solidFill>
                  <a:srgbClr val="F8FAFC"/>
                </a:solidFill>
                <a:latin typeface="Arial" pitchFamily="34" charset="0"/>
                <a:ea typeface="Arial" pitchFamily="34" charset="-122"/>
                <a:cs typeface="Arial" pitchFamily="34" charset="-120"/>
              </a:rPr>
              <a:t>• Cloud data centers face dynamic, bursty workloads causing physical host hotspots (CPU &gt; 80%, RAM &gt; 85%).</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 Uneven resource distribution degrades QoS, induces SLA violations, and elevates physical host wear.</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 Sudden physical hardware failures threaten total service blackout unless rapid recovery placement occurs.</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 This project delivers an interactive, deterministic browser-based cloud simulator comparing First Fit, Best Fit, and Least Loaded heuristics under realistic workload variations.</a:t>
            </a:r>
            <a:endParaRPr lang="en-US" sz="95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sp>
      <p:sp>
        <p:nvSpPr>
          <p:cNvPr id="10" name="Text 8"/>
          <p:cNvSpPr/>
          <p:nvPr/>
        </p:nvSpPr>
        <p:spPr>
          <a:xfrm>
            <a:off x="4892040" y="1234440"/>
            <a:ext cx="3520440" cy="274320"/>
          </a:xfrm>
          <a:prstGeom prst="rect">
            <a:avLst/>
          </a:prstGeom>
          <a:noFill/>
          <a:ln/>
        </p:spPr>
        <p:txBody>
          <a:bodyPr wrap="square" rtlCol="0" anchor="ctr"/>
          <a:lstStyle/>
          <a:p>
            <a:pPr indent="0" marL="0">
              <a:buNone/>
            </a:pPr>
            <a:r>
              <a:rPr lang="en-US" sz="1300" b="1" dirty="0">
                <a:solidFill>
                  <a:srgbClr val="EF4444"/>
                </a:solidFill>
                <a:latin typeface="Arial" pitchFamily="34" charset="0"/>
                <a:ea typeface="Arial" pitchFamily="34" charset="-122"/>
                <a:cs typeface="Arial" pitchFamily="34" charset="-120"/>
              </a:rPr>
              <a:t>Core Problem Statement</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indent="0" marL="0">
              <a:lnSpc>
                <a:spcPts val="1400"/>
              </a:lnSpc>
              <a:buNone/>
            </a:pPr>
            <a:r>
              <a:rPr lang="en-US" sz="950" dirty="0">
                <a:solidFill>
                  <a:srgbClr val="F8FAFC"/>
                </a:solidFill>
                <a:latin typeface="Arial" pitchFamily="34" charset="0"/>
                <a:ea typeface="Arial" pitchFamily="34" charset="-122"/>
                <a:cs typeface="Arial" pitchFamily="34" charset="-120"/>
              </a:rPr>
              <a:t>1. Static VM Allocation Flaw:</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Initial VM placement remains static, causing severe cluster imbalance when tenant demands spike.</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2. Cascade Failures:</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An overloaded host suffers thermal throttling or crash; without automated migration, all resident VMs perish.</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3. Trade-off Optimization Dilemma:</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Migrating VMs introduces migration overhead (network data transfer and downtime pause). The challenge is selecting which VM to move, to which destination, without causing secondary hotspots.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Existing Systems vs Proposed Solution</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sp>
      <p:sp>
        <p:nvSpPr>
          <p:cNvPr id="7" name="Text 5"/>
          <p:cNvSpPr/>
          <p:nvPr/>
        </p:nvSpPr>
        <p:spPr>
          <a:xfrm>
            <a:off x="731520" y="1234440"/>
            <a:ext cx="3520440" cy="27432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Existing Approaches &amp; Limitations</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indent="0" marL="0">
              <a:lnSpc>
                <a:spcPts val="1300"/>
              </a:lnSpc>
              <a:buNone/>
            </a:pPr>
            <a:r>
              <a:rPr lang="en-US" sz="950" dirty="0">
                <a:solidFill>
                  <a:srgbClr val="F8FAFC"/>
                </a:solidFill>
                <a:latin typeface="Arial" pitchFamily="34" charset="0"/>
                <a:ea typeface="Arial" pitchFamily="34" charset="-122"/>
                <a:cs typeface="Arial" pitchFamily="34" charset="-120"/>
              </a:rPr>
              <a:t>• Static Provisioning:</a:t>
            </a: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VMs are placed during creation and never moved. Results in high variance, idle stranded capacity, and frequent hotspots.</a:t>
            </a:r>
            <a:endParaRPr lang="en-US" sz="950" dirty="0"/>
          </a:p>
          <a:p>
            <a:pPr indent="0" marL="0">
              <a:lnSpc>
                <a:spcPts val="1300"/>
              </a:lnSpc>
              <a:buNone/>
            </a:pP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 Manual Intervention:</a:t>
            </a: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Sysadmins manually identify overloaded hosts, leading to slow response times (MTTR &gt; 30 minutes).</a:t>
            </a:r>
            <a:endParaRPr lang="en-US" sz="950" dirty="0"/>
          </a:p>
          <a:p>
            <a:pPr indent="0" marL="0">
              <a:lnSpc>
                <a:spcPts val="1300"/>
              </a:lnSpc>
              <a:buNone/>
            </a:pP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 Black-box Commercial Tools:</a:t>
            </a: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VMware DRS or OpenStack Watcher are complex, expensive, and opaque for academic evaluation.</a:t>
            </a:r>
            <a:endParaRPr lang="en-US" sz="950" dirty="0"/>
          </a:p>
          <a:p>
            <a:pPr indent="0" marL="0">
              <a:lnSpc>
                <a:spcPts val="1300"/>
              </a:lnSpc>
              <a:buNone/>
            </a:pP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 High Cloud Cost for Testing:</a:t>
            </a: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Testing real VM migrations on AWS/Azure requires high multi-instance hourly fees and nested virtualization.</a:t>
            </a:r>
            <a:endParaRPr lang="en-US" sz="95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sp>
      <p:sp>
        <p:nvSpPr>
          <p:cNvPr id="10" name="Text 8"/>
          <p:cNvSpPr/>
          <p:nvPr/>
        </p:nvSpPr>
        <p:spPr>
          <a:xfrm>
            <a:off x="4892040" y="1234440"/>
            <a:ext cx="3520440" cy="27432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Proposed Simulated Solution</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indent="0" marL="0">
              <a:lnSpc>
                <a:spcPts val="1300"/>
              </a:lnSpc>
              <a:buNone/>
            </a:pPr>
            <a:r>
              <a:rPr lang="en-US" sz="950" dirty="0">
                <a:solidFill>
                  <a:srgbClr val="F8FAFC"/>
                </a:solidFill>
                <a:latin typeface="Arial" pitchFamily="34" charset="0"/>
                <a:ea typeface="Arial" pitchFamily="34" charset="-122"/>
                <a:cs typeface="Arial" pitchFamily="34" charset="-120"/>
              </a:rPr>
              <a:t>• Deterministic In-Browser Simulation:</a:t>
            </a: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Zero cost, zero credentials, instant execution of multi-host cluster dynamics.</a:t>
            </a:r>
            <a:endParaRPr lang="en-US" sz="950" dirty="0"/>
          </a:p>
          <a:p>
            <a:pPr indent="0" marL="0">
              <a:lnSpc>
                <a:spcPts val="1300"/>
              </a:lnSpc>
              <a:buNone/>
            </a:pP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 Multi-Algorithm Support:</a:t>
            </a: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Side-by-side comparison of First Fit, Best Fit, and Least Loaded heuristics.</a:t>
            </a:r>
            <a:endParaRPr lang="en-US" sz="950" dirty="0"/>
          </a:p>
          <a:p>
            <a:pPr indent="0" marL="0">
              <a:lnSpc>
                <a:spcPts val="1300"/>
              </a:lnSpc>
              <a:buNone/>
            </a:pP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 Dual Proactive &amp; Reactive Pipelines:</a:t>
            </a: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Proactive migration relieves hotspots before SLA breach; emergency recovery safeguards against host crash.</a:t>
            </a:r>
            <a:endParaRPr lang="en-US" sz="950" dirty="0"/>
          </a:p>
          <a:p>
            <a:pPr indent="0" marL="0">
              <a:lnSpc>
                <a:spcPts val="1300"/>
              </a:lnSpc>
              <a:buNone/>
            </a:pP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 Realistic Overhead Modeling:</a:t>
            </a:r>
            <a:endParaRPr lang="en-US" sz="950" dirty="0"/>
          </a:p>
          <a:p>
            <a:pPr indent="0" marL="0">
              <a:lnSpc>
                <a:spcPts val="1300"/>
              </a:lnSpc>
              <a:buNone/>
            </a:pPr>
            <a:r>
              <a:rPr lang="en-US" sz="950" dirty="0">
                <a:solidFill>
                  <a:srgbClr val="F8FAFC"/>
                </a:solidFill>
                <a:latin typeface="Arial" pitchFamily="34" charset="0"/>
                <a:ea typeface="Arial" pitchFamily="34" charset="-122"/>
                <a:cs typeface="Arial" pitchFamily="34" charset="-120"/>
              </a:rPr>
              <a:t>Accurate mathematical modeling of dirty page transfer GB, downtime (ms), and anti-oscillation cooldowns.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Project Objectives &amp; Scope</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8046720" cy="621792"/>
          </a:xfrm>
          <a:prstGeom prst="roundRect">
            <a:avLst>
              <a:gd name="adj" fmla="val 8824"/>
            </a:avLst>
          </a:prstGeom>
          <a:solidFill>
            <a:srgbClr val="0F172A"/>
          </a:solidFill>
          <a:ln w="12700">
            <a:solidFill>
              <a:srgbClr val="334155"/>
            </a:solidFill>
            <a:prstDash val="solid"/>
          </a:ln>
        </p:spPr>
      </p:sp>
      <p:sp>
        <p:nvSpPr>
          <p:cNvPr id="7" name="Text 5"/>
          <p:cNvSpPr/>
          <p:nvPr/>
        </p:nvSpPr>
        <p:spPr>
          <a:xfrm>
            <a:off x="731520" y="1143000"/>
            <a:ext cx="256032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1. Model Physical Hosts &amp; VMs</a:t>
            </a:r>
            <a:endParaRPr lang="en-US" sz="1050" dirty="0"/>
          </a:p>
        </p:txBody>
      </p:sp>
      <p:sp>
        <p:nvSpPr>
          <p:cNvPr id="8" name="Text 6"/>
          <p:cNvSpPr/>
          <p:nvPr/>
        </p:nvSpPr>
        <p:spPr>
          <a:xfrm>
            <a:off x="3383280" y="1143000"/>
            <a:ext cx="502920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Simulate multi-core physical servers (32-64 cores, 128-256 GB RAM) and heterogeneous virtual workloads (Web, DB, AI inference, Batch).</a:t>
            </a:r>
            <a:endParaRPr lang="en-US" sz="950" dirty="0"/>
          </a:p>
        </p:txBody>
      </p:sp>
      <p:sp>
        <p:nvSpPr>
          <p:cNvPr id="9" name="Shape 7"/>
          <p:cNvSpPr/>
          <p:nvPr/>
        </p:nvSpPr>
        <p:spPr>
          <a:xfrm>
            <a:off x="548640" y="1792224"/>
            <a:ext cx="8046720" cy="621792"/>
          </a:xfrm>
          <a:prstGeom prst="roundRect">
            <a:avLst>
              <a:gd name="adj" fmla="val 8824"/>
            </a:avLst>
          </a:prstGeom>
          <a:solidFill>
            <a:srgbClr val="0F172A"/>
          </a:solidFill>
          <a:ln w="12700">
            <a:solidFill>
              <a:srgbClr val="334155"/>
            </a:solidFill>
            <a:prstDash val="solid"/>
          </a:ln>
        </p:spPr>
      </p:sp>
      <p:sp>
        <p:nvSpPr>
          <p:cNvPr id="10" name="Text 8"/>
          <p:cNvSpPr/>
          <p:nvPr/>
        </p:nvSpPr>
        <p:spPr>
          <a:xfrm>
            <a:off x="731520" y="1837944"/>
            <a:ext cx="256032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2. Proactive Overload Mitigation</a:t>
            </a:r>
            <a:endParaRPr lang="en-US" sz="1050" dirty="0"/>
          </a:p>
        </p:txBody>
      </p:sp>
      <p:sp>
        <p:nvSpPr>
          <p:cNvPr id="11" name="Text 9"/>
          <p:cNvSpPr/>
          <p:nvPr/>
        </p:nvSpPr>
        <p:spPr>
          <a:xfrm>
            <a:off x="3383280" y="1837944"/>
            <a:ext cx="502920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Continuously evaluate CPU (&gt;80%) and RAM (&gt;85%) thresholds, selecting candidate VMs for live migration before crashes occur.</a:t>
            </a:r>
            <a:endParaRPr lang="en-US" sz="950" dirty="0"/>
          </a:p>
        </p:txBody>
      </p:sp>
      <p:sp>
        <p:nvSpPr>
          <p:cNvPr id="12" name="Shape 10"/>
          <p:cNvSpPr/>
          <p:nvPr/>
        </p:nvSpPr>
        <p:spPr>
          <a:xfrm>
            <a:off x="548640" y="2487168"/>
            <a:ext cx="8046720" cy="621792"/>
          </a:xfrm>
          <a:prstGeom prst="roundRect">
            <a:avLst>
              <a:gd name="adj" fmla="val 8824"/>
            </a:avLst>
          </a:prstGeom>
          <a:solidFill>
            <a:srgbClr val="0F172A"/>
          </a:solidFill>
          <a:ln w="12700">
            <a:solidFill>
              <a:srgbClr val="334155"/>
            </a:solidFill>
            <a:prstDash val="solid"/>
          </a:ln>
        </p:spPr>
      </p:sp>
      <p:sp>
        <p:nvSpPr>
          <p:cNvPr id="13" name="Text 11"/>
          <p:cNvSpPr/>
          <p:nvPr/>
        </p:nvSpPr>
        <p:spPr>
          <a:xfrm>
            <a:off x="731520" y="2532888"/>
            <a:ext cx="256032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3. Implement 3 Placement Heuristics</a:t>
            </a:r>
            <a:endParaRPr lang="en-US" sz="1050" dirty="0"/>
          </a:p>
        </p:txBody>
      </p:sp>
      <p:sp>
        <p:nvSpPr>
          <p:cNvPr id="14" name="Text 12"/>
          <p:cNvSpPr/>
          <p:nvPr/>
        </p:nvSpPr>
        <p:spPr>
          <a:xfrm>
            <a:off x="3383280" y="2532888"/>
            <a:ext cx="502920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Implement First Fit (speed), Best Fit (tight bin packing), and Least Loaded (variance minimization).</a:t>
            </a:r>
            <a:endParaRPr lang="en-US" sz="950" dirty="0"/>
          </a:p>
        </p:txBody>
      </p:sp>
      <p:sp>
        <p:nvSpPr>
          <p:cNvPr id="15" name="Shape 13"/>
          <p:cNvSpPr/>
          <p:nvPr/>
        </p:nvSpPr>
        <p:spPr>
          <a:xfrm>
            <a:off x="548640" y="3182112"/>
            <a:ext cx="8046720" cy="621792"/>
          </a:xfrm>
          <a:prstGeom prst="roundRect">
            <a:avLst>
              <a:gd name="adj" fmla="val 8824"/>
            </a:avLst>
          </a:prstGeom>
          <a:solidFill>
            <a:srgbClr val="0F172A"/>
          </a:solidFill>
          <a:ln w="12700">
            <a:solidFill>
              <a:srgbClr val="334155"/>
            </a:solidFill>
            <a:prstDash val="solid"/>
          </a:ln>
        </p:spPr>
      </p:sp>
      <p:sp>
        <p:nvSpPr>
          <p:cNvPr id="16" name="Text 14"/>
          <p:cNvSpPr/>
          <p:nvPr/>
        </p:nvSpPr>
        <p:spPr>
          <a:xfrm>
            <a:off x="731520" y="3227832"/>
            <a:ext cx="256032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4. Model Disaster Fault-Tolerance</a:t>
            </a:r>
            <a:endParaRPr lang="en-US" sz="1050" dirty="0"/>
          </a:p>
        </p:txBody>
      </p:sp>
      <p:sp>
        <p:nvSpPr>
          <p:cNvPr id="17" name="Text 15"/>
          <p:cNvSpPr/>
          <p:nvPr/>
        </p:nvSpPr>
        <p:spPr>
          <a:xfrm>
            <a:off x="3383280" y="3227832"/>
            <a:ext cx="502920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Simulate complete host failure, emergency recovery placement on surviving nodes, and capacity exhaustion handling.</a:t>
            </a:r>
            <a:endParaRPr lang="en-US" sz="950" dirty="0"/>
          </a:p>
        </p:txBody>
      </p:sp>
      <p:sp>
        <p:nvSpPr>
          <p:cNvPr id="18" name="Shape 16"/>
          <p:cNvSpPr/>
          <p:nvPr/>
        </p:nvSpPr>
        <p:spPr>
          <a:xfrm>
            <a:off x="548640" y="3877056"/>
            <a:ext cx="8046720" cy="621792"/>
          </a:xfrm>
          <a:prstGeom prst="roundRect">
            <a:avLst>
              <a:gd name="adj" fmla="val 8824"/>
            </a:avLst>
          </a:prstGeom>
          <a:solidFill>
            <a:srgbClr val="0F172A"/>
          </a:solidFill>
          <a:ln w="12700">
            <a:solidFill>
              <a:srgbClr val="334155"/>
            </a:solidFill>
            <a:prstDash val="solid"/>
          </a:ln>
        </p:spPr>
      </p:sp>
      <p:sp>
        <p:nvSpPr>
          <p:cNvPr id="19" name="Text 17"/>
          <p:cNvSpPr/>
          <p:nvPr/>
        </p:nvSpPr>
        <p:spPr>
          <a:xfrm>
            <a:off x="731520" y="3922776"/>
            <a:ext cx="256032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5. Empirical Performance Analytics</a:t>
            </a:r>
            <a:endParaRPr lang="en-US" sz="1050" dirty="0"/>
          </a:p>
        </p:txBody>
      </p:sp>
      <p:sp>
        <p:nvSpPr>
          <p:cNvPr id="20" name="Text 18"/>
          <p:cNvSpPr/>
          <p:nvPr/>
        </p:nvSpPr>
        <p:spPr>
          <a:xfrm>
            <a:off x="3383280" y="3922776"/>
            <a:ext cx="502920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Measure migration success rate, recovery MTTR, downtime overhead, load variance, and hypothetical server operational costs.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Cloud Service Model &amp; Technology Stack</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sp>
      <p:sp>
        <p:nvSpPr>
          <p:cNvPr id="7" name="Text 5"/>
          <p:cNvSpPr/>
          <p:nvPr/>
        </p:nvSpPr>
        <p:spPr>
          <a:xfrm>
            <a:off x="731520" y="1234440"/>
            <a:ext cx="3520440" cy="274320"/>
          </a:xfrm>
          <a:prstGeom prst="rect">
            <a:avLst/>
          </a:prstGeom>
          <a:noFill/>
          <a:ln/>
        </p:spPr>
        <p:txBody>
          <a:bodyPr wrap="square" rtlCol="0" anchor="ctr"/>
          <a:lstStyle/>
          <a:p>
            <a:pPr indent="0" marL="0">
              <a:buNone/>
            </a:pPr>
            <a:r>
              <a:rPr lang="en-US" sz="1300" b="1" dirty="0">
                <a:solidFill>
                  <a:srgbClr val="06B6D4"/>
                </a:solidFill>
                <a:latin typeface="Arial" pitchFamily="34" charset="0"/>
                <a:ea typeface="Arial" pitchFamily="34" charset="-122"/>
                <a:cs typeface="Arial" pitchFamily="34" charset="-120"/>
              </a:rPr>
              <a:t>Cloud Service Model Mapping</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indent="0" marL="0">
              <a:lnSpc>
                <a:spcPts val="1400"/>
              </a:lnSpc>
              <a:buNone/>
            </a:pPr>
            <a:r>
              <a:rPr lang="en-US" sz="950" dirty="0">
                <a:solidFill>
                  <a:srgbClr val="F8FAFC"/>
                </a:solidFill>
                <a:latin typeface="Arial" pitchFamily="34" charset="0"/>
                <a:ea typeface="Arial" pitchFamily="34" charset="-122"/>
                <a:cs typeface="Arial" pitchFamily="34" charset="-120"/>
              </a:rPr>
              <a:t>• Actual Hosting Model: PaaS / Static Edge Hosting</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Hosted on Cloudflare Pages. Delivers bundled HTML/JS assets globally via Cloudflare CDN.</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 Modeled Infrastructure: Infrastructure as a Service (IaaS)</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Simulates physical compute blades, hypervisor allocation, vCPU scheduling, memory paging, and storage volumes.</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 Academic Transparency Disclaimer:</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No real AWS EC2, GCP Compute Engine, or Azure VMs are launched. All objects live in browser RAM (State Hooks).</a:t>
            </a:r>
            <a:endParaRPr lang="en-US" sz="95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sp>
      <p:sp>
        <p:nvSpPr>
          <p:cNvPr id="10" name="Text 8"/>
          <p:cNvSpPr/>
          <p:nvPr/>
        </p:nvSpPr>
        <p:spPr>
          <a:xfrm>
            <a:off x="4892040" y="1234440"/>
            <a:ext cx="3520440" cy="27432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Technology Stack &amp; Rationale</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indent="0" marL="0">
              <a:lnSpc>
                <a:spcPts val="1400"/>
              </a:lnSpc>
              <a:buNone/>
            </a:pPr>
            <a:r>
              <a:rPr lang="en-US" sz="950" dirty="0">
                <a:solidFill>
                  <a:srgbClr val="F8FAFC"/>
                </a:solidFill>
                <a:latin typeface="Arial" pitchFamily="34" charset="0"/>
                <a:ea typeface="Arial" pitchFamily="34" charset="-122"/>
                <a:cs typeface="Arial" pitchFamily="34" charset="-120"/>
              </a:rPr>
              <a:t>• Frontend Core: React 19 + TypeScript</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Provides strong type safety for Host, VM, and Migration models; deterministic state mutation.</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 Build Tool: Vite 8</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Lightning-fast build (sub-second bundle generation) and optimized production output.</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 Visual Styling: Tailwind CSS</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Enterprise dark-navy monitoring theme inspired by AWS CloudWatch and Datadog.</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 Data Visualization: Recharts</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Interactive area, bar, and line charts displaying host telemetry.</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 Unit Testing: Vitest</a:t>
            </a:r>
            <a:endParaRPr lang="en-US" sz="950" dirty="0"/>
          </a:p>
          <a:p>
            <a:pPr indent="0" marL="0">
              <a:lnSpc>
                <a:spcPts val="1400"/>
              </a:lnSpc>
              <a:buNone/>
            </a:pPr>
            <a:r>
              <a:rPr lang="en-US" sz="950" dirty="0">
                <a:solidFill>
                  <a:srgbClr val="F8FAFC"/>
                </a:solidFill>
                <a:latin typeface="Arial" pitchFamily="34" charset="0"/>
                <a:ea typeface="Arial" pitchFamily="34" charset="-122"/>
                <a:cs typeface="Arial" pitchFamily="34" charset="-120"/>
              </a:rPr>
              <a:t>15 automated unit tests verifying algorithms and edge cases.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Simulation Engine Architecture</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8046720" cy="3566160"/>
          </a:xfrm>
          <a:prstGeom prst="roundRect">
            <a:avLst>
              <a:gd name="adj" fmla="val 2051"/>
            </a:avLst>
          </a:prstGeom>
          <a:solidFill>
            <a:srgbClr val="0F172A"/>
          </a:solidFill>
          <a:ln w="12700">
            <a:solidFill>
              <a:srgbClr val="334155"/>
            </a:solidFill>
            <a:prstDash val="solid"/>
          </a:ln>
        </p:spPr>
      </p:sp>
      <p:sp>
        <p:nvSpPr>
          <p:cNvPr id="7" name="Shape 5"/>
          <p:cNvSpPr/>
          <p:nvPr/>
        </p:nvSpPr>
        <p:spPr>
          <a:xfrm>
            <a:off x="731520" y="1280160"/>
            <a:ext cx="1325880" cy="777240"/>
          </a:xfrm>
          <a:prstGeom prst="roundRect">
            <a:avLst>
              <a:gd name="adj" fmla="val 7059"/>
            </a:avLst>
          </a:prstGeom>
          <a:solidFill>
            <a:srgbClr val="1E293B"/>
          </a:solidFill>
          <a:ln w="19050">
            <a:solidFill>
              <a:srgbClr val="06B6D4"/>
            </a:solidFill>
            <a:prstDash val="solid"/>
          </a:ln>
        </p:spPr>
      </p:sp>
      <p:sp>
        <p:nvSpPr>
          <p:cNvPr id="8" name="Text 6"/>
          <p:cNvSpPr/>
          <p:nvPr/>
        </p:nvSpPr>
        <p:spPr>
          <a:xfrm>
            <a:off x="731520" y="1325880"/>
            <a:ext cx="1325880" cy="685800"/>
          </a:xfrm>
          <a:prstGeom prst="rect">
            <a:avLst/>
          </a:prstGeom>
          <a:noFill/>
          <a:ln/>
        </p:spPr>
        <p:txBody>
          <a:bodyPr wrap="square" rtlCol="0" anchor="ctr"/>
          <a:lstStyle/>
          <a:p>
            <a:pPr algn="ctr" indent="0" marL="0">
              <a:buNone/>
            </a:pPr>
            <a:r>
              <a:rPr lang="en-US" sz="850" b="1" dirty="0">
                <a:solidFill>
                  <a:srgbClr val="F8FAFC"/>
                </a:solidFill>
                <a:latin typeface="Arial" pitchFamily="34" charset="0"/>
                <a:ea typeface="Arial" pitchFamily="34" charset="-122"/>
                <a:cs typeface="Arial" pitchFamily="34" charset="-120"/>
              </a:rPr>
              <a:t>User Interaction</a:t>
            </a:r>
            <a:endParaRPr lang="en-US" sz="850" dirty="0"/>
          </a:p>
          <a:p>
            <a:pPr algn="ctr" indent="0" marL="0">
              <a:buNone/>
            </a:pPr>
            <a:r>
              <a:rPr lang="en-US" sz="850" b="1" dirty="0">
                <a:solidFill>
                  <a:srgbClr val="F8FAFC"/>
                </a:solidFill>
                <a:latin typeface="Arial" pitchFamily="34" charset="0"/>
                <a:ea typeface="Arial" pitchFamily="34" charset="-122"/>
                <a:cs typeface="Arial" pitchFamily="34" charset="-120"/>
              </a:rPr>
              <a:t>(Web Browser)</a:t>
            </a:r>
            <a:endParaRPr lang="en-US" sz="850" dirty="0"/>
          </a:p>
        </p:txBody>
      </p:sp>
      <p:sp>
        <p:nvSpPr>
          <p:cNvPr id="9" name="Shape 7"/>
          <p:cNvSpPr/>
          <p:nvPr/>
        </p:nvSpPr>
        <p:spPr>
          <a:xfrm>
            <a:off x="2331720" y="1280160"/>
            <a:ext cx="1325880" cy="777240"/>
          </a:xfrm>
          <a:prstGeom prst="roundRect">
            <a:avLst>
              <a:gd name="adj" fmla="val 7059"/>
            </a:avLst>
          </a:prstGeom>
          <a:solidFill>
            <a:srgbClr val="1E293B"/>
          </a:solidFill>
          <a:ln w="19050">
            <a:solidFill>
              <a:srgbClr val="10B981"/>
            </a:solidFill>
            <a:prstDash val="solid"/>
          </a:ln>
        </p:spPr>
      </p:sp>
      <p:sp>
        <p:nvSpPr>
          <p:cNvPr id="10" name="Text 8"/>
          <p:cNvSpPr/>
          <p:nvPr/>
        </p:nvSpPr>
        <p:spPr>
          <a:xfrm>
            <a:off x="2331720" y="1325880"/>
            <a:ext cx="1325880" cy="685800"/>
          </a:xfrm>
          <a:prstGeom prst="rect">
            <a:avLst/>
          </a:prstGeom>
          <a:noFill/>
          <a:ln/>
        </p:spPr>
        <p:txBody>
          <a:bodyPr wrap="square" rtlCol="0" anchor="ctr"/>
          <a:lstStyle/>
          <a:p>
            <a:pPr algn="ctr" indent="0" marL="0">
              <a:buNone/>
            </a:pPr>
            <a:r>
              <a:rPr lang="en-US" sz="850" b="1" dirty="0">
                <a:solidFill>
                  <a:srgbClr val="F8FAFC"/>
                </a:solidFill>
                <a:latin typeface="Arial" pitchFamily="34" charset="0"/>
                <a:ea typeface="Arial" pitchFamily="34" charset="-122"/>
                <a:cs typeface="Arial" pitchFamily="34" charset="-120"/>
              </a:rPr>
              <a:t>Cloudflare Pages</a:t>
            </a:r>
            <a:endParaRPr lang="en-US" sz="850" dirty="0"/>
          </a:p>
          <a:p>
            <a:pPr algn="ctr" indent="0" marL="0">
              <a:buNone/>
            </a:pPr>
            <a:r>
              <a:rPr lang="en-US" sz="850" b="1" dirty="0">
                <a:solidFill>
                  <a:srgbClr val="F8FAFC"/>
                </a:solidFill>
                <a:latin typeface="Arial" pitchFamily="34" charset="0"/>
                <a:ea typeface="Arial" pitchFamily="34" charset="-122"/>
                <a:cs typeface="Arial" pitchFamily="34" charset="-120"/>
              </a:rPr>
              <a:t>Edge Delivery</a:t>
            </a:r>
            <a:endParaRPr lang="en-US" sz="850" dirty="0"/>
          </a:p>
        </p:txBody>
      </p:sp>
      <p:sp>
        <p:nvSpPr>
          <p:cNvPr id="11" name="Shape 9"/>
          <p:cNvSpPr/>
          <p:nvPr/>
        </p:nvSpPr>
        <p:spPr>
          <a:xfrm>
            <a:off x="3931920" y="1280160"/>
            <a:ext cx="1325880" cy="777240"/>
          </a:xfrm>
          <a:prstGeom prst="roundRect">
            <a:avLst>
              <a:gd name="adj" fmla="val 7059"/>
            </a:avLst>
          </a:prstGeom>
          <a:solidFill>
            <a:srgbClr val="1E293B"/>
          </a:solidFill>
          <a:ln w="19050">
            <a:solidFill>
              <a:srgbClr val="818CF8"/>
            </a:solidFill>
            <a:prstDash val="solid"/>
          </a:ln>
        </p:spPr>
      </p:sp>
      <p:sp>
        <p:nvSpPr>
          <p:cNvPr id="12" name="Text 10"/>
          <p:cNvSpPr/>
          <p:nvPr/>
        </p:nvSpPr>
        <p:spPr>
          <a:xfrm>
            <a:off x="3931920" y="1325880"/>
            <a:ext cx="1325880" cy="685800"/>
          </a:xfrm>
          <a:prstGeom prst="rect">
            <a:avLst/>
          </a:prstGeom>
          <a:noFill/>
          <a:ln/>
        </p:spPr>
        <p:txBody>
          <a:bodyPr wrap="square" rtlCol="0" anchor="ctr"/>
          <a:lstStyle/>
          <a:p>
            <a:pPr algn="ctr" indent="0" marL="0">
              <a:buNone/>
            </a:pPr>
            <a:r>
              <a:rPr lang="en-US" sz="850" b="1" dirty="0">
                <a:solidFill>
                  <a:srgbClr val="F8FAFC"/>
                </a:solidFill>
                <a:latin typeface="Arial" pitchFamily="34" charset="0"/>
                <a:ea typeface="Arial" pitchFamily="34" charset="-122"/>
                <a:cs typeface="Arial" pitchFamily="34" charset="-120"/>
              </a:rPr>
              <a:t>React + TypeScript</a:t>
            </a:r>
            <a:endParaRPr lang="en-US" sz="850" dirty="0"/>
          </a:p>
          <a:p>
            <a:pPr algn="ctr" indent="0" marL="0">
              <a:buNone/>
            </a:pPr>
            <a:r>
              <a:rPr lang="en-US" sz="850" b="1" dirty="0">
                <a:solidFill>
                  <a:srgbClr val="F8FAFC"/>
                </a:solidFill>
                <a:latin typeface="Arial" pitchFamily="34" charset="0"/>
                <a:ea typeface="Arial" pitchFamily="34" charset="-122"/>
                <a:cs typeface="Arial" pitchFamily="34" charset="-120"/>
              </a:rPr>
              <a:t>Simulation Engine</a:t>
            </a:r>
            <a:endParaRPr lang="en-US" sz="850" dirty="0"/>
          </a:p>
        </p:txBody>
      </p:sp>
      <p:sp>
        <p:nvSpPr>
          <p:cNvPr id="13" name="Shape 11"/>
          <p:cNvSpPr/>
          <p:nvPr/>
        </p:nvSpPr>
        <p:spPr>
          <a:xfrm>
            <a:off x="5532120" y="1280160"/>
            <a:ext cx="1325880" cy="777240"/>
          </a:xfrm>
          <a:prstGeom prst="roundRect">
            <a:avLst>
              <a:gd name="adj" fmla="val 7059"/>
            </a:avLst>
          </a:prstGeom>
          <a:solidFill>
            <a:srgbClr val="1E293B"/>
          </a:solidFill>
          <a:ln w="19050">
            <a:solidFill>
              <a:srgbClr val="F59E0B"/>
            </a:solidFill>
            <a:prstDash val="solid"/>
          </a:ln>
        </p:spPr>
      </p:sp>
      <p:sp>
        <p:nvSpPr>
          <p:cNvPr id="14" name="Text 12"/>
          <p:cNvSpPr/>
          <p:nvPr/>
        </p:nvSpPr>
        <p:spPr>
          <a:xfrm>
            <a:off x="5532120" y="1325880"/>
            <a:ext cx="1325880" cy="685800"/>
          </a:xfrm>
          <a:prstGeom prst="rect">
            <a:avLst/>
          </a:prstGeom>
          <a:noFill/>
          <a:ln/>
        </p:spPr>
        <p:txBody>
          <a:bodyPr wrap="square" rtlCol="0" anchor="ctr"/>
          <a:lstStyle/>
          <a:p>
            <a:pPr algn="ctr" indent="0" marL="0">
              <a:buNone/>
            </a:pPr>
            <a:r>
              <a:rPr lang="en-US" sz="850" b="1" dirty="0">
                <a:solidFill>
                  <a:srgbClr val="F8FAFC"/>
                </a:solidFill>
                <a:latin typeface="Arial" pitchFamily="34" charset="0"/>
                <a:ea typeface="Arial" pitchFamily="34" charset="-122"/>
                <a:cs typeface="Arial" pitchFamily="34" charset="-120"/>
              </a:rPr>
              <a:t>Core Engine Modules</a:t>
            </a:r>
            <a:endParaRPr lang="en-US" sz="850" dirty="0"/>
          </a:p>
          <a:p>
            <a:pPr algn="ctr" indent="0" marL="0">
              <a:buNone/>
            </a:pPr>
            <a:r>
              <a:rPr lang="en-US" sz="850" b="1" dirty="0">
                <a:solidFill>
                  <a:srgbClr val="F8FAFC"/>
                </a:solidFill>
                <a:latin typeface="Arial" pitchFamily="34" charset="0"/>
                <a:ea typeface="Arial" pitchFamily="34" charset="-122"/>
                <a:cs typeface="Arial" pitchFamily="34" charset="-120"/>
              </a:rPr>
              <a:t>(LB, FT, Migrations)</a:t>
            </a:r>
            <a:endParaRPr lang="en-US" sz="850" dirty="0"/>
          </a:p>
        </p:txBody>
      </p:sp>
      <p:sp>
        <p:nvSpPr>
          <p:cNvPr id="15" name="Shape 13"/>
          <p:cNvSpPr/>
          <p:nvPr/>
        </p:nvSpPr>
        <p:spPr>
          <a:xfrm>
            <a:off x="7132320" y="1280160"/>
            <a:ext cx="1325880" cy="777240"/>
          </a:xfrm>
          <a:prstGeom prst="roundRect">
            <a:avLst>
              <a:gd name="adj" fmla="val 7059"/>
            </a:avLst>
          </a:prstGeom>
          <a:solidFill>
            <a:srgbClr val="1E293B"/>
          </a:solidFill>
          <a:ln w="19050">
            <a:solidFill>
              <a:srgbClr val="EF4444"/>
            </a:solidFill>
            <a:prstDash val="solid"/>
          </a:ln>
        </p:spPr>
      </p:sp>
      <p:sp>
        <p:nvSpPr>
          <p:cNvPr id="16" name="Text 14"/>
          <p:cNvSpPr/>
          <p:nvPr/>
        </p:nvSpPr>
        <p:spPr>
          <a:xfrm>
            <a:off x="7132320" y="1325880"/>
            <a:ext cx="1325880" cy="685800"/>
          </a:xfrm>
          <a:prstGeom prst="rect">
            <a:avLst/>
          </a:prstGeom>
          <a:noFill/>
          <a:ln/>
        </p:spPr>
        <p:txBody>
          <a:bodyPr wrap="square" rtlCol="0" anchor="ctr"/>
          <a:lstStyle/>
          <a:p>
            <a:pPr algn="ctr" indent="0" marL="0">
              <a:buNone/>
            </a:pPr>
            <a:r>
              <a:rPr lang="en-US" sz="850" b="1" dirty="0">
                <a:solidFill>
                  <a:srgbClr val="F8FAFC"/>
                </a:solidFill>
                <a:latin typeface="Arial" pitchFamily="34" charset="0"/>
                <a:ea typeface="Arial" pitchFamily="34" charset="-122"/>
                <a:cs typeface="Arial" pitchFamily="34" charset="-120"/>
              </a:rPr>
              <a:t>Telemetry, Charts</a:t>
            </a:r>
            <a:endParaRPr lang="en-US" sz="850" dirty="0"/>
          </a:p>
          <a:p>
            <a:pPr algn="ctr" indent="0" marL="0">
              <a:buNone/>
            </a:pPr>
            <a:r>
              <a:rPr lang="en-US" sz="850" b="1" dirty="0">
                <a:solidFill>
                  <a:srgbClr val="F8FAFC"/>
                </a:solidFill>
                <a:latin typeface="Arial" pitchFamily="34" charset="0"/>
                <a:ea typeface="Arial" pitchFamily="34" charset="-122"/>
                <a:cs typeface="Arial" pitchFamily="34" charset="-120"/>
              </a:rPr>
              <a:t>&amp; Activity Feed</a:t>
            </a:r>
            <a:endParaRPr lang="en-US" sz="850" dirty="0"/>
          </a:p>
        </p:txBody>
      </p:sp>
      <p:sp>
        <p:nvSpPr>
          <p:cNvPr id="17" name="Text 15"/>
          <p:cNvSpPr/>
          <p:nvPr/>
        </p:nvSpPr>
        <p:spPr>
          <a:xfrm>
            <a:off x="731520" y="2240280"/>
            <a:ext cx="7680960" cy="274320"/>
          </a:xfrm>
          <a:prstGeom prst="rect">
            <a:avLst/>
          </a:prstGeom>
          <a:noFill/>
          <a:ln/>
        </p:spPr>
        <p:txBody>
          <a:bodyPr wrap="square" rtlCol="0" anchor="ctr"/>
          <a:lstStyle/>
          <a:p>
            <a:pPr indent="0" marL="0">
              <a:buNone/>
            </a:pPr>
            <a:r>
              <a:rPr lang="en-US" sz="1200" b="1" dirty="0">
                <a:solidFill>
                  <a:srgbClr val="06B6D4"/>
                </a:solidFill>
                <a:latin typeface="Arial" pitchFamily="34" charset="0"/>
                <a:ea typeface="Arial" pitchFamily="34" charset="-122"/>
                <a:cs typeface="Arial" pitchFamily="34" charset="-120"/>
              </a:rPr>
              <a:t>Modular Simulation Subsystems Breakdown</a:t>
            </a:r>
            <a:endParaRPr lang="en-US" sz="1200" dirty="0"/>
          </a:p>
        </p:txBody>
      </p:sp>
      <p:sp>
        <p:nvSpPr>
          <p:cNvPr id="18" name="Text 16"/>
          <p:cNvSpPr/>
          <p:nvPr/>
        </p:nvSpPr>
        <p:spPr>
          <a:xfrm>
            <a:off x="731520" y="2560320"/>
            <a:ext cx="7680960" cy="1920240"/>
          </a:xfrm>
          <a:prstGeom prst="rect">
            <a:avLst/>
          </a:prstGeom>
          <a:noFill/>
          <a:ln/>
        </p:spPr>
        <p:txBody>
          <a:bodyPr wrap="square" rtlCol="0" anchor="ctr"/>
          <a:lstStyle/>
          <a:p>
            <a:pPr indent="0" marL="0">
              <a:lnSpc>
                <a:spcPts val="1500"/>
              </a:lnSpc>
              <a:buNone/>
            </a:pPr>
            <a:r>
              <a:rPr lang="en-US" sz="950" dirty="0">
                <a:solidFill>
                  <a:srgbClr val="F8FAFC"/>
                </a:solidFill>
                <a:latin typeface="Arial" pitchFamily="34" charset="0"/>
                <a:ea typeface="Arial" pitchFamily="34" charset="-122"/>
                <a:cs typeface="Arial" pitchFamily="34" charset="-120"/>
              </a:rPr>
              <a:t>1. Host &amp; VM Manager: Enforces core/RAM/storage budgets and hardware state transitions.</a:t>
            </a:r>
            <a:endParaRPr lang="en-US" sz="950" dirty="0"/>
          </a:p>
          <a:p>
            <a:pPr indent="0" marL="0">
              <a:lnSpc>
                <a:spcPts val="1500"/>
              </a:lnSpc>
              <a:buNone/>
            </a:pPr>
            <a:r>
              <a:rPr lang="en-US" sz="950" dirty="0">
                <a:solidFill>
                  <a:srgbClr val="F8FAFC"/>
                </a:solidFill>
                <a:latin typeface="Arial" pitchFamily="34" charset="0"/>
                <a:ea typeface="Arial" pitchFamily="34" charset="-122"/>
                <a:cs typeface="Arial" pitchFamily="34" charset="-120"/>
              </a:rPr>
              <a:t>2. Load Balancer Engine: Evaluates First Fit, Best Fit, and Least Loaded heuristics with hysteresis margins.</a:t>
            </a:r>
            <a:endParaRPr lang="en-US" sz="950" dirty="0"/>
          </a:p>
          <a:p>
            <a:pPr indent="0" marL="0">
              <a:lnSpc>
                <a:spcPts val="1500"/>
              </a:lnSpc>
              <a:buNone/>
            </a:pPr>
            <a:r>
              <a:rPr lang="en-US" sz="950" dirty="0">
                <a:solidFill>
                  <a:srgbClr val="F8FAFC"/>
                </a:solidFill>
                <a:latin typeface="Arial" pitchFamily="34" charset="0"/>
                <a:ea typeface="Arial" pitchFamily="34" charset="-122"/>
                <a:cs typeface="Arial" pitchFamily="34" charset="-120"/>
              </a:rPr>
              <a:t>3. Migration Engine: Atomic 3-step transition (Pending -&gt; Validating -&gt; In Progress -&gt; Complete) with pre-allocation locks.</a:t>
            </a:r>
            <a:endParaRPr lang="en-US" sz="950" dirty="0"/>
          </a:p>
          <a:p>
            <a:pPr indent="0" marL="0">
              <a:lnSpc>
                <a:spcPts val="1500"/>
              </a:lnSpc>
              <a:buNone/>
            </a:pPr>
            <a:r>
              <a:rPr lang="en-US" sz="950" dirty="0">
                <a:solidFill>
                  <a:srgbClr val="F8FAFC"/>
                </a:solidFill>
                <a:latin typeface="Arial" pitchFamily="34" charset="0"/>
                <a:ea typeface="Arial" pitchFamily="34" charset="-122"/>
                <a:cs typeface="Arial" pitchFamily="34" charset="-120"/>
              </a:rPr>
              <a:t>4. Fault Tolerance Manager: Emergency evacuator assigning surviving host capacity on node crash.</a:t>
            </a:r>
            <a:endParaRPr lang="en-US" sz="950" dirty="0"/>
          </a:p>
          <a:p>
            <a:pPr indent="0" marL="0">
              <a:lnSpc>
                <a:spcPts val="1500"/>
              </a:lnSpc>
              <a:buNone/>
            </a:pPr>
            <a:r>
              <a:rPr lang="en-US" sz="950" dirty="0">
                <a:solidFill>
                  <a:srgbClr val="F8FAFC"/>
                </a:solidFill>
                <a:latin typeface="Arial" pitchFamily="34" charset="0"/>
                <a:ea typeface="Arial" pitchFamily="34" charset="-122"/>
                <a:cs typeface="Arial" pitchFamily="34" charset="-120"/>
              </a:rPr>
              <a:t>5. Experiment Runner: Clones pristine state templates for zero-cross-contamination benchmarking.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Load-Balancing Algorithms &amp; Decision Heuristics</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2560320" cy="3566160"/>
          </a:xfrm>
          <a:prstGeom prst="roundRect">
            <a:avLst>
              <a:gd name="adj" fmla="val 2857"/>
            </a:avLst>
          </a:prstGeom>
          <a:solidFill>
            <a:srgbClr val="0F172A"/>
          </a:solidFill>
          <a:ln w="12700">
            <a:solidFill>
              <a:srgbClr val="334155"/>
            </a:solidFill>
            <a:prstDash val="solid"/>
          </a:ln>
        </p:spPr>
      </p:sp>
      <p:sp>
        <p:nvSpPr>
          <p:cNvPr id="7" name="Text 5"/>
          <p:cNvSpPr/>
          <p:nvPr/>
        </p:nvSpPr>
        <p:spPr>
          <a:xfrm>
            <a:off x="685800" y="1234440"/>
            <a:ext cx="2286000" cy="274320"/>
          </a:xfrm>
          <a:prstGeom prst="rect">
            <a:avLst/>
          </a:prstGeom>
          <a:noFill/>
          <a:ln/>
        </p:spPr>
        <p:txBody>
          <a:bodyPr wrap="square" rtlCol="0" anchor="ctr"/>
          <a:lstStyle/>
          <a:p>
            <a:pPr indent="0" marL="0">
              <a:buNone/>
            </a:pPr>
            <a:r>
              <a:rPr lang="en-US" sz="1200" b="1" dirty="0">
                <a:solidFill>
                  <a:srgbClr val="06B6D4"/>
                </a:solidFill>
                <a:latin typeface="Arial" pitchFamily="34" charset="0"/>
                <a:ea typeface="Arial" pitchFamily="34" charset="-122"/>
                <a:cs typeface="Arial" pitchFamily="34" charset="-120"/>
              </a:rPr>
              <a:t>A. First Fit (FF)</a:t>
            </a:r>
            <a:endParaRPr lang="en-US" sz="1200" dirty="0"/>
          </a:p>
        </p:txBody>
      </p:sp>
      <p:sp>
        <p:nvSpPr>
          <p:cNvPr id="8" name="Text 6"/>
          <p:cNvSpPr/>
          <p:nvPr/>
        </p:nvSpPr>
        <p:spPr>
          <a:xfrm>
            <a:off x="685800" y="1554480"/>
            <a:ext cx="2286000" cy="2926080"/>
          </a:xfrm>
          <a:prstGeom prst="rect">
            <a:avLst/>
          </a:prstGeom>
          <a:noFill/>
          <a:ln/>
        </p:spPr>
        <p:txBody>
          <a:bodyPr wrap="square" rtlCol="0" anchor="ctr"/>
          <a:lstStyle/>
          <a:p>
            <a:pPr indent="0" marL="0">
              <a:lnSpc>
                <a:spcPts val="1300"/>
              </a:lnSpc>
              <a:buNone/>
            </a:pPr>
            <a:r>
              <a:rPr lang="en-US" sz="900" dirty="0">
                <a:solidFill>
                  <a:srgbClr val="F8FAFC"/>
                </a:solidFill>
                <a:latin typeface="Arial" pitchFamily="34" charset="0"/>
                <a:ea typeface="Arial" pitchFamily="34" charset="-122"/>
                <a:cs typeface="Arial" pitchFamily="34" charset="-120"/>
              </a:rPr>
              <a:t>Selects the first healthy destination host that satisfies capacity constraints.</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Complexity: O(N) linear scan</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Advantage: Fastest decision time</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Disadvantage: Tends to pack early hosts and leaves uneven cluster utilization.</a:t>
            </a:r>
            <a:endParaRPr lang="en-US" sz="900" dirty="0"/>
          </a:p>
        </p:txBody>
      </p:sp>
      <p:sp>
        <p:nvSpPr>
          <p:cNvPr id="9" name="Shape 7"/>
          <p:cNvSpPr/>
          <p:nvPr/>
        </p:nvSpPr>
        <p:spPr>
          <a:xfrm>
            <a:off x="3337560" y="1097280"/>
            <a:ext cx="2560320" cy="3566160"/>
          </a:xfrm>
          <a:prstGeom prst="roundRect">
            <a:avLst>
              <a:gd name="adj" fmla="val 2857"/>
            </a:avLst>
          </a:prstGeom>
          <a:solidFill>
            <a:srgbClr val="0F172A"/>
          </a:solidFill>
          <a:ln w="12700">
            <a:solidFill>
              <a:srgbClr val="334155"/>
            </a:solidFill>
            <a:prstDash val="solid"/>
          </a:ln>
        </p:spPr>
      </p:sp>
      <p:sp>
        <p:nvSpPr>
          <p:cNvPr id="10" name="Text 8"/>
          <p:cNvSpPr/>
          <p:nvPr/>
        </p:nvSpPr>
        <p:spPr>
          <a:xfrm>
            <a:off x="3474720" y="1234440"/>
            <a:ext cx="2286000" cy="27432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B. Best Fit (BF)</a:t>
            </a:r>
            <a:endParaRPr lang="en-US" sz="1200" dirty="0"/>
          </a:p>
        </p:txBody>
      </p:sp>
      <p:sp>
        <p:nvSpPr>
          <p:cNvPr id="11" name="Text 9"/>
          <p:cNvSpPr/>
          <p:nvPr/>
        </p:nvSpPr>
        <p:spPr>
          <a:xfrm>
            <a:off x="3474720" y="1554480"/>
            <a:ext cx="2286000" cy="2926080"/>
          </a:xfrm>
          <a:prstGeom prst="rect">
            <a:avLst/>
          </a:prstGeom>
          <a:noFill/>
          <a:ln/>
        </p:spPr>
        <p:txBody>
          <a:bodyPr wrap="square" rtlCol="0" anchor="ctr"/>
          <a:lstStyle/>
          <a:p>
            <a:pPr indent="0" marL="0">
              <a:lnSpc>
                <a:spcPts val="1300"/>
              </a:lnSpc>
              <a:buNone/>
            </a:pPr>
            <a:r>
              <a:rPr lang="en-US" sz="900" dirty="0">
                <a:solidFill>
                  <a:srgbClr val="F8FAFC"/>
                </a:solidFill>
                <a:latin typeface="Arial" pitchFamily="34" charset="0"/>
                <a:ea typeface="Arial" pitchFamily="34" charset="-122"/>
                <a:cs typeface="Arial" pitchFamily="34" charset="-120"/>
              </a:rPr>
              <a:t>Selects the host that minimizes remaining residual capacity after VM placement.</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Objective: Min(Residual Slack)</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Advantage: Dense packing, preserves larger contiguous capacity on other hosts</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Disadvantage: May push destination close to warning thresholds.</a:t>
            </a:r>
            <a:endParaRPr lang="en-US" sz="900" dirty="0"/>
          </a:p>
        </p:txBody>
      </p:sp>
      <p:sp>
        <p:nvSpPr>
          <p:cNvPr id="12" name="Shape 10"/>
          <p:cNvSpPr/>
          <p:nvPr/>
        </p:nvSpPr>
        <p:spPr>
          <a:xfrm>
            <a:off x="6126480" y="1097280"/>
            <a:ext cx="2560320" cy="3566160"/>
          </a:xfrm>
          <a:prstGeom prst="roundRect">
            <a:avLst>
              <a:gd name="adj" fmla="val 2857"/>
            </a:avLst>
          </a:prstGeom>
          <a:solidFill>
            <a:srgbClr val="0F172A"/>
          </a:solidFill>
          <a:ln w="12700">
            <a:solidFill>
              <a:srgbClr val="334155"/>
            </a:solidFill>
            <a:prstDash val="solid"/>
          </a:ln>
        </p:spPr>
      </p:sp>
      <p:sp>
        <p:nvSpPr>
          <p:cNvPr id="13" name="Text 11"/>
          <p:cNvSpPr/>
          <p:nvPr/>
        </p:nvSpPr>
        <p:spPr>
          <a:xfrm>
            <a:off x="6263640" y="1234440"/>
            <a:ext cx="2286000" cy="27432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C. Least Loaded (LL)</a:t>
            </a:r>
            <a:endParaRPr lang="en-US" sz="1200" dirty="0"/>
          </a:p>
        </p:txBody>
      </p:sp>
      <p:sp>
        <p:nvSpPr>
          <p:cNvPr id="14" name="Text 12"/>
          <p:cNvSpPr/>
          <p:nvPr/>
        </p:nvSpPr>
        <p:spPr>
          <a:xfrm>
            <a:off x="6263640" y="1554480"/>
            <a:ext cx="2286000" cy="2926080"/>
          </a:xfrm>
          <a:prstGeom prst="rect">
            <a:avLst/>
          </a:prstGeom>
          <a:noFill/>
          <a:ln/>
        </p:spPr>
        <p:txBody>
          <a:bodyPr wrap="square" rtlCol="0" anchor="ctr"/>
          <a:lstStyle/>
          <a:p>
            <a:pPr indent="0" marL="0">
              <a:lnSpc>
                <a:spcPts val="1300"/>
              </a:lnSpc>
              <a:buNone/>
            </a:pPr>
            <a:r>
              <a:rPr lang="en-US" sz="900" dirty="0">
                <a:solidFill>
                  <a:srgbClr val="F8FAFC"/>
                </a:solidFill>
                <a:latin typeface="Arial" pitchFamily="34" charset="0"/>
                <a:ea typeface="Arial" pitchFamily="34" charset="-122"/>
                <a:cs typeface="Arial" pitchFamily="34" charset="-120"/>
              </a:rPr>
              <a:t>Selects the host with lowest multi-resource load score:</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Load Score = 0.5×CPU% + 0.4×RAM% + 0.1×Storage%</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Objective: Minimize cluster variance</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Advantage: Superior cluster balance</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Disadvantage: Higher dispersion across hosts.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VM Migration Engine &amp; Workflow</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8046720" cy="3566160"/>
          </a:xfrm>
          <a:prstGeom prst="roundRect">
            <a:avLst>
              <a:gd name="adj" fmla="val 2051"/>
            </a:avLst>
          </a:prstGeom>
          <a:solidFill>
            <a:srgbClr val="0F172A"/>
          </a:solidFill>
          <a:ln w="12700">
            <a:solidFill>
              <a:srgbClr val="334155"/>
            </a:solidFill>
            <a:prstDash val="solid"/>
          </a:ln>
        </p:spPr>
      </p:sp>
      <p:sp>
        <p:nvSpPr>
          <p:cNvPr id="7" name="Shape 5"/>
          <p:cNvSpPr/>
          <p:nvPr/>
        </p:nvSpPr>
        <p:spPr>
          <a:xfrm>
            <a:off x="731520" y="1280160"/>
            <a:ext cx="2423160" cy="868680"/>
          </a:xfrm>
          <a:prstGeom prst="roundRect">
            <a:avLst>
              <a:gd name="adj" fmla="val 6316"/>
            </a:avLst>
          </a:prstGeom>
          <a:solidFill>
            <a:srgbClr val="1E293B"/>
          </a:solidFill>
          <a:ln w="12700">
            <a:solidFill>
              <a:srgbClr val="06B6D4"/>
            </a:solidFill>
            <a:prstDash val="solid"/>
          </a:ln>
        </p:spPr>
      </p:sp>
      <p:sp>
        <p:nvSpPr>
          <p:cNvPr id="8" name="Text 6"/>
          <p:cNvSpPr/>
          <p:nvPr/>
        </p:nvSpPr>
        <p:spPr>
          <a:xfrm>
            <a:off x="868680" y="1325880"/>
            <a:ext cx="2194560" cy="22860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1. Detect Overload</a:t>
            </a:r>
            <a:endParaRPr lang="en-US" sz="1000" dirty="0"/>
          </a:p>
        </p:txBody>
      </p:sp>
      <p:sp>
        <p:nvSpPr>
          <p:cNvPr id="9" name="Text 7"/>
          <p:cNvSpPr/>
          <p:nvPr/>
        </p:nvSpPr>
        <p:spPr>
          <a:xfrm>
            <a:off x="868680" y="1554480"/>
            <a:ext cx="2194560" cy="502920"/>
          </a:xfrm>
          <a:prstGeom prst="rect">
            <a:avLst/>
          </a:prstGeom>
          <a:noFill/>
          <a:ln/>
        </p:spPr>
        <p:txBody>
          <a:bodyPr wrap="square" rtlCol="0" anchor="ctr"/>
          <a:lstStyle/>
          <a:p>
            <a:pPr indent="0" marL="0">
              <a:buNone/>
            </a:pPr>
            <a:r>
              <a:rPr lang="en-US" sz="850" dirty="0">
                <a:solidFill>
                  <a:srgbClr val="F8FAFC"/>
                </a:solidFill>
                <a:latin typeface="Arial" pitchFamily="34" charset="0"/>
                <a:ea typeface="Arial" pitchFamily="34" charset="-122"/>
                <a:cs typeface="Arial" pitchFamily="34" charset="-120"/>
              </a:rPr>
              <a:t>Host CPU &gt;= 80% or RAM &gt;= 85%</a:t>
            </a:r>
            <a:endParaRPr lang="en-US" sz="850" dirty="0"/>
          </a:p>
        </p:txBody>
      </p:sp>
      <p:sp>
        <p:nvSpPr>
          <p:cNvPr id="10" name="Shape 8"/>
          <p:cNvSpPr/>
          <p:nvPr/>
        </p:nvSpPr>
        <p:spPr>
          <a:xfrm>
            <a:off x="3337560" y="1280160"/>
            <a:ext cx="2423160" cy="868680"/>
          </a:xfrm>
          <a:prstGeom prst="roundRect">
            <a:avLst>
              <a:gd name="adj" fmla="val 6316"/>
            </a:avLst>
          </a:prstGeom>
          <a:solidFill>
            <a:srgbClr val="1E293B"/>
          </a:solidFill>
          <a:ln w="12700">
            <a:solidFill>
              <a:srgbClr val="06B6D4"/>
            </a:solidFill>
            <a:prstDash val="solid"/>
          </a:ln>
        </p:spPr>
      </p:sp>
      <p:sp>
        <p:nvSpPr>
          <p:cNvPr id="11" name="Text 9"/>
          <p:cNvSpPr/>
          <p:nvPr/>
        </p:nvSpPr>
        <p:spPr>
          <a:xfrm>
            <a:off x="3474720" y="1325880"/>
            <a:ext cx="2194560" cy="22860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2. Select Candidate VM</a:t>
            </a:r>
            <a:endParaRPr lang="en-US" sz="1000" dirty="0"/>
          </a:p>
        </p:txBody>
      </p:sp>
      <p:sp>
        <p:nvSpPr>
          <p:cNvPr id="12" name="Text 10"/>
          <p:cNvSpPr/>
          <p:nvPr/>
        </p:nvSpPr>
        <p:spPr>
          <a:xfrm>
            <a:off x="3474720" y="1554480"/>
            <a:ext cx="2194560" cy="502920"/>
          </a:xfrm>
          <a:prstGeom prst="rect">
            <a:avLst/>
          </a:prstGeom>
          <a:noFill/>
          <a:ln/>
        </p:spPr>
        <p:txBody>
          <a:bodyPr wrap="square" rtlCol="0" anchor="ctr"/>
          <a:lstStyle/>
          <a:p>
            <a:pPr indent="0" marL="0">
              <a:buNone/>
            </a:pPr>
            <a:r>
              <a:rPr lang="en-US" sz="850" dirty="0">
                <a:solidFill>
                  <a:srgbClr val="F8FAFC"/>
                </a:solidFill>
                <a:latin typeface="Arial" pitchFamily="34" charset="0"/>
                <a:ea typeface="Arial" pitchFamily="34" charset="-122"/>
                <a:cs typeface="Arial" pitchFamily="34" charset="-120"/>
              </a:rPr>
              <a:t>Sort by priority and CPU contribution</a:t>
            </a:r>
            <a:endParaRPr lang="en-US" sz="850" dirty="0"/>
          </a:p>
        </p:txBody>
      </p:sp>
      <p:sp>
        <p:nvSpPr>
          <p:cNvPr id="13" name="Shape 11"/>
          <p:cNvSpPr/>
          <p:nvPr/>
        </p:nvSpPr>
        <p:spPr>
          <a:xfrm>
            <a:off x="5943600" y="1280160"/>
            <a:ext cx="2423160" cy="868680"/>
          </a:xfrm>
          <a:prstGeom prst="roundRect">
            <a:avLst>
              <a:gd name="adj" fmla="val 6316"/>
            </a:avLst>
          </a:prstGeom>
          <a:solidFill>
            <a:srgbClr val="1E293B"/>
          </a:solidFill>
          <a:ln w="12700">
            <a:solidFill>
              <a:srgbClr val="06B6D4"/>
            </a:solidFill>
            <a:prstDash val="solid"/>
          </a:ln>
        </p:spPr>
      </p:sp>
      <p:sp>
        <p:nvSpPr>
          <p:cNvPr id="14" name="Text 12"/>
          <p:cNvSpPr/>
          <p:nvPr/>
        </p:nvSpPr>
        <p:spPr>
          <a:xfrm>
            <a:off x="6080760" y="1325880"/>
            <a:ext cx="2194560" cy="22860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3. Verify Capacity</a:t>
            </a:r>
            <a:endParaRPr lang="en-US" sz="1000" dirty="0"/>
          </a:p>
        </p:txBody>
      </p:sp>
      <p:sp>
        <p:nvSpPr>
          <p:cNvPr id="15" name="Text 13"/>
          <p:cNvSpPr/>
          <p:nvPr/>
        </p:nvSpPr>
        <p:spPr>
          <a:xfrm>
            <a:off x="6080760" y="1554480"/>
            <a:ext cx="2194560" cy="502920"/>
          </a:xfrm>
          <a:prstGeom prst="rect">
            <a:avLst/>
          </a:prstGeom>
          <a:noFill/>
          <a:ln/>
        </p:spPr>
        <p:txBody>
          <a:bodyPr wrap="square" rtlCol="0" anchor="ctr"/>
          <a:lstStyle/>
          <a:p>
            <a:pPr indent="0" marL="0">
              <a:buNone/>
            </a:pPr>
            <a:r>
              <a:rPr lang="en-US" sz="850" dirty="0">
                <a:solidFill>
                  <a:srgbClr val="F8FAFC"/>
                </a:solidFill>
                <a:latin typeface="Arial" pitchFamily="34" charset="0"/>
                <a:ea typeface="Arial" pitchFamily="34" charset="-122"/>
                <a:cs typeface="Arial" pitchFamily="34" charset="-120"/>
              </a:rPr>
              <a:t>Check CPU, RAM &amp; hysteresis headroom</a:t>
            </a:r>
            <a:endParaRPr lang="en-US" sz="850" dirty="0"/>
          </a:p>
        </p:txBody>
      </p:sp>
      <p:sp>
        <p:nvSpPr>
          <p:cNvPr id="16" name="Shape 14"/>
          <p:cNvSpPr/>
          <p:nvPr/>
        </p:nvSpPr>
        <p:spPr>
          <a:xfrm>
            <a:off x="731520" y="2331720"/>
            <a:ext cx="2423160" cy="868680"/>
          </a:xfrm>
          <a:prstGeom prst="roundRect">
            <a:avLst>
              <a:gd name="adj" fmla="val 6316"/>
            </a:avLst>
          </a:prstGeom>
          <a:solidFill>
            <a:srgbClr val="1E293B"/>
          </a:solidFill>
          <a:ln w="12700">
            <a:solidFill>
              <a:srgbClr val="06B6D4"/>
            </a:solidFill>
            <a:prstDash val="solid"/>
          </a:ln>
        </p:spPr>
      </p:sp>
      <p:sp>
        <p:nvSpPr>
          <p:cNvPr id="17" name="Text 15"/>
          <p:cNvSpPr/>
          <p:nvPr/>
        </p:nvSpPr>
        <p:spPr>
          <a:xfrm>
            <a:off x="868680" y="2377440"/>
            <a:ext cx="2194560" cy="22860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4. Capacity Lock</a:t>
            </a:r>
            <a:endParaRPr lang="en-US" sz="1000" dirty="0"/>
          </a:p>
        </p:txBody>
      </p:sp>
      <p:sp>
        <p:nvSpPr>
          <p:cNvPr id="18" name="Text 16"/>
          <p:cNvSpPr/>
          <p:nvPr/>
        </p:nvSpPr>
        <p:spPr>
          <a:xfrm>
            <a:off x="868680" y="2606040"/>
            <a:ext cx="2194560" cy="502920"/>
          </a:xfrm>
          <a:prstGeom prst="rect">
            <a:avLst/>
          </a:prstGeom>
          <a:noFill/>
          <a:ln/>
        </p:spPr>
        <p:txBody>
          <a:bodyPr wrap="square" rtlCol="0" anchor="ctr"/>
          <a:lstStyle/>
          <a:p>
            <a:pPr indent="0" marL="0">
              <a:buNone/>
            </a:pPr>
            <a:r>
              <a:rPr lang="en-US" sz="850" dirty="0">
                <a:solidFill>
                  <a:srgbClr val="F8FAFC"/>
                </a:solidFill>
                <a:latin typeface="Arial" pitchFamily="34" charset="0"/>
                <a:ea typeface="Arial" pitchFamily="34" charset="-122"/>
                <a:cs typeface="Arial" pitchFamily="34" charset="-120"/>
              </a:rPr>
              <a:t>Reserve destination resources</a:t>
            </a:r>
            <a:endParaRPr lang="en-US" sz="850" dirty="0"/>
          </a:p>
        </p:txBody>
      </p:sp>
      <p:sp>
        <p:nvSpPr>
          <p:cNvPr id="19" name="Shape 17"/>
          <p:cNvSpPr/>
          <p:nvPr/>
        </p:nvSpPr>
        <p:spPr>
          <a:xfrm>
            <a:off x="3337560" y="2331720"/>
            <a:ext cx="2423160" cy="868680"/>
          </a:xfrm>
          <a:prstGeom prst="roundRect">
            <a:avLst>
              <a:gd name="adj" fmla="val 6316"/>
            </a:avLst>
          </a:prstGeom>
          <a:solidFill>
            <a:srgbClr val="1E293B"/>
          </a:solidFill>
          <a:ln w="12700">
            <a:solidFill>
              <a:srgbClr val="06B6D4"/>
            </a:solidFill>
            <a:prstDash val="solid"/>
          </a:ln>
        </p:spPr>
      </p:sp>
      <p:sp>
        <p:nvSpPr>
          <p:cNvPr id="20" name="Text 18"/>
          <p:cNvSpPr/>
          <p:nvPr/>
        </p:nvSpPr>
        <p:spPr>
          <a:xfrm>
            <a:off x="3474720" y="2377440"/>
            <a:ext cx="2194560" cy="22860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5. Transfer Simulation</a:t>
            </a:r>
            <a:endParaRPr lang="en-US" sz="1000" dirty="0"/>
          </a:p>
        </p:txBody>
      </p:sp>
      <p:sp>
        <p:nvSpPr>
          <p:cNvPr id="21" name="Text 19"/>
          <p:cNvSpPr/>
          <p:nvPr/>
        </p:nvSpPr>
        <p:spPr>
          <a:xfrm>
            <a:off x="3474720" y="2606040"/>
            <a:ext cx="2194560" cy="502920"/>
          </a:xfrm>
          <a:prstGeom prst="rect">
            <a:avLst/>
          </a:prstGeom>
          <a:noFill/>
          <a:ln/>
        </p:spPr>
        <p:txBody>
          <a:bodyPr wrap="square" rtlCol="0" anchor="ctr"/>
          <a:lstStyle/>
          <a:p>
            <a:pPr indent="0" marL="0">
              <a:buNone/>
            </a:pPr>
            <a:r>
              <a:rPr lang="en-US" sz="850" dirty="0">
                <a:solidFill>
                  <a:srgbClr val="F8FAFC"/>
                </a:solidFill>
                <a:latin typeface="Arial" pitchFamily="34" charset="0"/>
                <a:ea typeface="Arial" pitchFamily="34" charset="-122"/>
                <a:cs typeface="Arial" pitchFamily="34" charset="-120"/>
              </a:rPr>
              <a:t>Model dirty page transfer &amp; downtime</a:t>
            </a:r>
            <a:endParaRPr lang="en-US" sz="850" dirty="0"/>
          </a:p>
        </p:txBody>
      </p:sp>
      <p:sp>
        <p:nvSpPr>
          <p:cNvPr id="22" name="Shape 20"/>
          <p:cNvSpPr/>
          <p:nvPr/>
        </p:nvSpPr>
        <p:spPr>
          <a:xfrm>
            <a:off x="5943600" y="2331720"/>
            <a:ext cx="2423160" cy="868680"/>
          </a:xfrm>
          <a:prstGeom prst="roundRect">
            <a:avLst>
              <a:gd name="adj" fmla="val 6316"/>
            </a:avLst>
          </a:prstGeom>
          <a:solidFill>
            <a:srgbClr val="1E293B"/>
          </a:solidFill>
          <a:ln w="12700">
            <a:solidFill>
              <a:srgbClr val="06B6D4"/>
            </a:solidFill>
            <a:prstDash val="solid"/>
          </a:ln>
        </p:spPr>
      </p:sp>
      <p:sp>
        <p:nvSpPr>
          <p:cNvPr id="23" name="Text 21"/>
          <p:cNvSpPr/>
          <p:nvPr/>
        </p:nvSpPr>
        <p:spPr>
          <a:xfrm>
            <a:off x="6080760" y="2377440"/>
            <a:ext cx="2194560" cy="228600"/>
          </a:xfrm>
          <a:prstGeom prst="rect">
            <a:avLst/>
          </a:prstGeom>
          <a:noFill/>
          <a:ln/>
        </p:spPr>
        <p:txBody>
          <a:bodyPr wrap="square" rtlCol="0" anchor="ctr"/>
          <a:lstStyle/>
          <a:p>
            <a:pPr indent="0" marL="0">
              <a:buNone/>
            </a:pPr>
            <a:r>
              <a:rPr lang="en-US" sz="1000" b="1" dirty="0">
                <a:solidFill>
                  <a:srgbClr val="06B6D4"/>
                </a:solidFill>
                <a:latin typeface="Arial" pitchFamily="34" charset="0"/>
                <a:ea typeface="Arial" pitchFamily="34" charset="-122"/>
                <a:cs typeface="Arial" pitchFamily="34" charset="-120"/>
              </a:rPr>
              <a:t>6. Atomic Switchover</a:t>
            </a:r>
            <a:endParaRPr lang="en-US" sz="1000" dirty="0"/>
          </a:p>
        </p:txBody>
      </p:sp>
      <p:sp>
        <p:nvSpPr>
          <p:cNvPr id="24" name="Text 22"/>
          <p:cNvSpPr/>
          <p:nvPr/>
        </p:nvSpPr>
        <p:spPr>
          <a:xfrm>
            <a:off x="6080760" y="2606040"/>
            <a:ext cx="2194560" cy="502920"/>
          </a:xfrm>
          <a:prstGeom prst="rect">
            <a:avLst/>
          </a:prstGeom>
          <a:noFill/>
          <a:ln/>
        </p:spPr>
        <p:txBody>
          <a:bodyPr wrap="square" rtlCol="0" anchor="ctr"/>
          <a:lstStyle/>
          <a:p>
            <a:pPr indent="0" marL="0">
              <a:buNone/>
            </a:pPr>
            <a:r>
              <a:rPr lang="en-US" sz="850" dirty="0">
                <a:solidFill>
                  <a:srgbClr val="F8FAFC"/>
                </a:solidFill>
                <a:latin typeface="Arial" pitchFamily="34" charset="0"/>
                <a:ea typeface="Arial" pitchFamily="34" charset="-122"/>
                <a:cs typeface="Arial" pitchFamily="34" charset="-120"/>
              </a:rPr>
              <a:t>Reassign VM and recalculate usages</a:t>
            </a:r>
            <a:endParaRPr lang="en-US" sz="850" dirty="0"/>
          </a:p>
        </p:txBody>
      </p:sp>
      <p:sp>
        <p:nvSpPr>
          <p:cNvPr id="25" name="Text 23"/>
          <p:cNvSpPr/>
          <p:nvPr/>
        </p:nvSpPr>
        <p:spPr>
          <a:xfrm>
            <a:off x="731520" y="3520440"/>
            <a:ext cx="7680960" cy="22860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Anti-Oscillation Safeguards &amp; Mathematical Formulas</a:t>
            </a:r>
            <a:endParaRPr lang="en-US" sz="1100" dirty="0"/>
          </a:p>
        </p:txBody>
      </p:sp>
      <p:sp>
        <p:nvSpPr>
          <p:cNvPr id="26" name="Text 24"/>
          <p:cNvSpPr/>
          <p:nvPr/>
        </p:nvSpPr>
        <p:spPr>
          <a:xfrm>
            <a:off x="731520" y="3794760"/>
            <a:ext cx="7680960" cy="731520"/>
          </a:xfrm>
          <a:prstGeom prst="rect">
            <a:avLst/>
          </a:prstGeom>
          <a:noFill/>
          <a:ln/>
        </p:spPr>
        <p:txBody>
          <a:bodyPr wrap="square" rtlCol="0" anchor="ctr"/>
          <a:lstStyle/>
          <a:p>
            <a:pPr indent="0" marL="0">
              <a:lnSpc>
                <a:spcPts val="1300"/>
              </a:lnSpc>
              <a:buNone/>
            </a:pPr>
            <a:r>
              <a:rPr lang="en-US" sz="900" dirty="0">
                <a:solidFill>
                  <a:srgbClr val="94A3B8"/>
                </a:solidFill>
                <a:latin typeface="Arial" pitchFamily="34" charset="0"/>
                <a:ea typeface="Arial" pitchFamily="34" charset="-122"/>
                <a:cs typeface="Arial" pitchFamily="34" charset="-120"/>
              </a:rPr>
              <a:t>• Cooldown Timer: 3 simulation steps lock after migration to prevent ping-pong oscillations.</a:t>
            </a:r>
            <a:endParaRPr lang="en-US" sz="900" dirty="0"/>
          </a:p>
          <a:p>
            <a:pPr indent="0" marL="0">
              <a:lnSpc>
                <a:spcPts val="1300"/>
              </a:lnSpc>
              <a:buNone/>
            </a:pPr>
            <a:r>
              <a:rPr lang="en-US" sz="900" dirty="0">
                <a:solidFill>
                  <a:srgbClr val="94A3B8"/>
                </a:solidFill>
                <a:latin typeface="Arial" pitchFamily="34" charset="0"/>
                <a:ea typeface="Arial" pitchFamily="34" charset="-122"/>
                <a:cs typeface="Arial" pitchFamily="34" charset="-120"/>
              </a:rPr>
              <a:t>• Hysteresis Headroom: Destination must not exceed (Threshold - 5%) upon arrival.</a:t>
            </a:r>
            <a:endParaRPr lang="en-US" sz="900" dirty="0"/>
          </a:p>
          <a:p>
            <a:pPr indent="0" marL="0">
              <a:lnSpc>
                <a:spcPts val="1300"/>
              </a:lnSpc>
              <a:buNone/>
            </a:pPr>
            <a:r>
              <a:rPr lang="en-US" sz="900" dirty="0">
                <a:solidFill>
                  <a:srgbClr val="94A3B8"/>
                </a:solidFill>
                <a:latin typeface="Arial" pitchFamily="34" charset="0"/>
                <a:ea typeface="Arial" pitchFamily="34" charset="-122"/>
                <a:cs typeface="Arial" pitchFamily="34" charset="-120"/>
              </a:rPr>
              <a:t>• Live Migration Transfer: Est. Data = RAM × 1.25 (dirty page pre-copy) | Downtime: 80 - 240 ms pause.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Fault-Tolerance Scenario &amp; Recovery Workflow</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sp>
      <p:sp>
        <p:nvSpPr>
          <p:cNvPr id="7" name="Text 5"/>
          <p:cNvSpPr/>
          <p:nvPr/>
        </p:nvSpPr>
        <p:spPr>
          <a:xfrm>
            <a:off x="731520" y="1234440"/>
            <a:ext cx="3520440" cy="274320"/>
          </a:xfrm>
          <a:prstGeom prst="rect">
            <a:avLst/>
          </a:prstGeom>
          <a:noFill/>
          <a:ln/>
        </p:spPr>
        <p:txBody>
          <a:bodyPr wrap="square" rtlCol="0" anchor="ctr"/>
          <a:lstStyle/>
          <a:p>
            <a:pPr indent="0" marL="0">
              <a:buNone/>
            </a:pPr>
            <a:r>
              <a:rPr lang="en-US" sz="1300" b="1" dirty="0">
                <a:solidFill>
                  <a:srgbClr val="EF4444"/>
                </a:solidFill>
                <a:latin typeface="Arial" pitchFamily="34" charset="0"/>
                <a:ea typeface="Arial" pitchFamily="34" charset="-122"/>
                <a:cs typeface="Arial" pitchFamily="34" charset="-120"/>
              </a:rPr>
              <a:t>Host Failure Detection &amp; Evacuation</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indent="0" marL="0">
              <a:lnSpc>
                <a:spcPts val="1300"/>
              </a:lnSpc>
              <a:buNone/>
            </a:pPr>
            <a:r>
              <a:rPr lang="en-US" sz="900" dirty="0">
                <a:solidFill>
                  <a:srgbClr val="F8FAFC"/>
                </a:solidFill>
                <a:latin typeface="Arial" pitchFamily="34" charset="0"/>
                <a:ea typeface="Arial" pitchFamily="34" charset="-122"/>
                <a:cs typeface="Arial" pitchFamily="34" charset="-120"/>
              </a:rPr>
              <a:t>1. Hardware Failure Injected:</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Physical host transitions immediately to "Failed" status. Heartbeat ceases.</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2. Workload Identification:</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All resident VMs set to "Recovery Pending". Immediate halt of new allocations.</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3. Priority-Ordered Rescheduling:</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VMs sorted by tier (High -&gt; Medium -&gt; Low). High-tier databases and web servers are placed first.</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4. Capacity Admission Control:</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Surviving healthy nodes receive workloads up to hardware capacity.</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5. Graceful Exhaustion Handling:</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If cluster capacity is 100% full, unrecoverable VMs are marked "Failed" with explicit alert log (No fake capacity).</a:t>
            </a:r>
            <a:endParaRPr lang="en-US" sz="90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sp>
      <p:sp>
        <p:nvSpPr>
          <p:cNvPr id="10" name="Text 8"/>
          <p:cNvSpPr/>
          <p:nvPr/>
        </p:nvSpPr>
        <p:spPr>
          <a:xfrm>
            <a:off x="4892040" y="1234440"/>
            <a:ext cx="3520440" cy="27432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Restoration &amp; Availability Metrics</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indent="0" marL="0">
              <a:lnSpc>
                <a:spcPts val="1300"/>
              </a:lnSpc>
              <a:buNone/>
            </a:pPr>
            <a:r>
              <a:rPr lang="en-US" sz="900" dirty="0">
                <a:solidFill>
                  <a:srgbClr val="F8FAFC"/>
                </a:solidFill>
                <a:latin typeface="Arial" pitchFamily="34" charset="0"/>
                <a:ea typeface="Arial" pitchFamily="34" charset="-122"/>
                <a:cs typeface="Arial" pitchFamily="34" charset="-120"/>
              </a:rPr>
              <a:t>• Mean Time to Recovery (MTTR):</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Emergency recovery executes in ~1 simulation tick (modeled as 5 - 12 seconds in simulated time).</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Service Availability Formula:</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Availability (%) = (Running VMs / Total Cluster VMs) × 100</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Host Recommissioning:</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Sysadmins can click "Restore Host" to return the repaired blade to Healthy service, opening spare headroom.</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Academic Distinction:</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Host failure recovery restarts VMs from storage images; it is distinct from continuous synchronous memory replication.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Experimental Methodology &amp; 5 Benchmark Tests</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8046720" cy="621792"/>
          </a:xfrm>
          <a:prstGeom prst="roundRect">
            <a:avLst>
              <a:gd name="adj" fmla="val 8824"/>
            </a:avLst>
          </a:prstGeom>
          <a:solidFill>
            <a:srgbClr val="0F172A"/>
          </a:solidFill>
          <a:ln w="12700">
            <a:solidFill>
              <a:srgbClr val="334155"/>
            </a:solidFill>
            <a:prstDash val="solid"/>
          </a:ln>
        </p:spPr>
      </p:sp>
      <p:sp>
        <p:nvSpPr>
          <p:cNvPr id="7" name="Text 5"/>
          <p:cNvSpPr/>
          <p:nvPr/>
        </p:nvSpPr>
        <p:spPr>
          <a:xfrm>
            <a:off x="731520" y="1143000"/>
            <a:ext cx="292608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Exp 1: Static vs Dynamic Rebalancing</a:t>
            </a:r>
            <a:endParaRPr lang="en-US" sz="1050" dirty="0"/>
          </a:p>
        </p:txBody>
      </p:sp>
      <p:sp>
        <p:nvSpPr>
          <p:cNvPr id="8" name="Text 6"/>
          <p:cNvSpPr/>
          <p:nvPr/>
        </p:nvSpPr>
        <p:spPr>
          <a:xfrm>
            <a:off x="3749040" y="1143000"/>
            <a:ext cx="466344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Demonstrates hotspot accumulation in static allocation vs automatic load dispersion.</a:t>
            </a:r>
            <a:endParaRPr lang="en-US" sz="950" dirty="0"/>
          </a:p>
        </p:txBody>
      </p:sp>
      <p:sp>
        <p:nvSpPr>
          <p:cNvPr id="9" name="Shape 7"/>
          <p:cNvSpPr/>
          <p:nvPr/>
        </p:nvSpPr>
        <p:spPr>
          <a:xfrm>
            <a:off x="548640" y="1792224"/>
            <a:ext cx="8046720" cy="621792"/>
          </a:xfrm>
          <a:prstGeom prst="roundRect">
            <a:avLst>
              <a:gd name="adj" fmla="val 8824"/>
            </a:avLst>
          </a:prstGeom>
          <a:solidFill>
            <a:srgbClr val="0F172A"/>
          </a:solidFill>
          <a:ln w="12700">
            <a:solidFill>
              <a:srgbClr val="334155"/>
            </a:solidFill>
            <a:prstDash val="solid"/>
          </a:ln>
        </p:spPr>
      </p:sp>
      <p:sp>
        <p:nvSpPr>
          <p:cNvPr id="10" name="Text 8"/>
          <p:cNvSpPr/>
          <p:nvPr/>
        </p:nvSpPr>
        <p:spPr>
          <a:xfrm>
            <a:off x="731520" y="1837944"/>
            <a:ext cx="292608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Exp 2: Host Overload Recovery</a:t>
            </a:r>
            <a:endParaRPr lang="en-US" sz="1050" dirty="0"/>
          </a:p>
        </p:txBody>
      </p:sp>
      <p:sp>
        <p:nvSpPr>
          <p:cNvPr id="11" name="Text 9"/>
          <p:cNvSpPr/>
          <p:nvPr/>
        </p:nvSpPr>
        <p:spPr>
          <a:xfrm>
            <a:off x="3749040" y="1837944"/>
            <a:ext cx="466344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Evaluates how rapidly an injected 95% CPU hotspot is relieved by live migration.</a:t>
            </a:r>
            <a:endParaRPr lang="en-US" sz="950" dirty="0"/>
          </a:p>
        </p:txBody>
      </p:sp>
      <p:sp>
        <p:nvSpPr>
          <p:cNvPr id="12" name="Shape 10"/>
          <p:cNvSpPr/>
          <p:nvPr/>
        </p:nvSpPr>
        <p:spPr>
          <a:xfrm>
            <a:off x="548640" y="2487168"/>
            <a:ext cx="8046720" cy="621792"/>
          </a:xfrm>
          <a:prstGeom prst="roundRect">
            <a:avLst>
              <a:gd name="adj" fmla="val 8824"/>
            </a:avLst>
          </a:prstGeom>
          <a:solidFill>
            <a:srgbClr val="0F172A"/>
          </a:solidFill>
          <a:ln w="12700">
            <a:solidFill>
              <a:srgbClr val="334155"/>
            </a:solidFill>
            <a:prstDash val="solid"/>
          </a:ln>
        </p:spPr>
      </p:sp>
      <p:sp>
        <p:nvSpPr>
          <p:cNvPr id="13" name="Text 11"/>
          <p:cNvSpPr/>
          <p:nvPr/>
        </p:nvSpPr>
        <p:spPr>
          <a:xfrm>
            <a:off x="731520" y="2532888"/>
            <a:ext cx="292608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Exp 3: Host Failure Disaster Recovery</a:t>
            </a:r>
            <a:endParaRPr lang="en-US" sz="1050" dirty="0"/>
          </a:p>
        </p:txBody>
      </p:sp>
      <p:sp>
        <p:nvSpPr>
          <p:cNvPr id="14" name="Text 12"/>
          <p:cNvSpPr/>
          <p:nvPr/>
        </p:nvSpPr>
        <p:spPr>
          <a:xfrm>
            <a:off x="3749040" y="2532888"/>
            <a:ext cx="466344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Quantifies VM recovery percentage and cluster headroom absorption upon node failure.</a:t>
            </a:r>
            <a:endParaRPr lang="en-US" sz="950" dirty="0"/>
          </a:p>
        </p:txBody>
      </p:sp>
      <p:sp>
        <p:nvSpPr>
          <p:cNvPr id="15" name="Shape 13"/>
          <p:cNvSpPr/>
          <p:nvPr/>
        </p:nvSpPr>
        <p:spPr>
          <a:xfrm>
            <a:off x="548640" y="3182112"/>
            <a:ext cx="8046720" cy="621792"/>
          </a:xfrm>
          <a:prstGeom prst="roundRect">
            <a:avLst>
              <a:gd name="adj" fmla="val 8824"/>
            </a:avLst>
          </a:prstGeom>
          <a:solidFill>
            <a:srgbClr val="0F172A"/>
          </a:solidFill>
          <a:ln w="12700">
            <a:solidFill>
              <a:srgbClr val="334155"/>
            </a:solidFill>
            <a:prstDash val="solid"/>
          </a:ln>
        </p:spPr>
      </p:sp>
      <p:sp>
        <p:nvSpPr>
          <p:cNvPr id="16" name="Text 14"/>
          <p:cNvSpPr/>
          <p:nvPr/>
        </p:nvSpPr>
        <p:spPr>
          <a:xfrm>
            <a:off x="731520" y="3227832"/>
            <a:ext cx="292608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Exp 4: Algorithm Comparison (FF vs BF vs LL)</a:t>
            </a:r>
            <a:endParaRPr lang="en-US" sz="1050" dirty="0"/>
          </a:p>
        </p:txBody>
      </p:sp>
      <p:sp>
        <p:nvSpPr>
          <p:cNvPr id="17" name="Text 15"/>
          <p:cNvSpPr/>
          <p:nvPr/>
        </p:nvSpPr>
        <p:spPr>
          <a:xfrm>
            <a:off x="3749040" y="3227832"/>
            <a:ext cx="466344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Compares variance, migration count, and peak CPU under identical workload seeds.</a:t>
            </a:r>
            <a:endParaRPr lang="en-US" sz="950" dirty="0"/>
          </a:p>
        </p:txBody>
      </p:sp>
      <p:sp>
        <p:nvSpPr>
          <p:cNvPr id="18" name="Shape 16"/>
          <p:cNvSpPr/>
          <p:nvPr/>
        </p:nvSpPr>
        <p:spPr>
          <a:xfrm>
            <a:off x="548640" y="3877056"/>
            <a:ext cx="8046720" cy="621792"/>
          </a:xfrm>
          <a:prstGeom prst="roundRect">
            <a:avLst>
              <a:gd name="adj" fmla="val 8824"/>
            </a:avLst>
          </a:prstGeom>
          <a:solidFill>
            <a:srgbClr val="0F172A"/>
          </a:solidFill>
          <a:ln w="12700">
            <a:solidFill>
              <a:srgbClr val="334155"/>
            </a:solidFill>
            <a:prstDash val="solid"/>
          </a:ln>
        </p:spPr>
      </p:sp>
      <p:sp>
        <p:nvSpPr>
          <p:cNvPr id="19" name="Text 17"/>
          <p:cNvSpPr/>
          <p:nvPr/>
        </p:nvSpPr>
        <p:spPr>
          <a:xfrm>
            <a:off x="731520" y="3922776"/>
            <a:ext cx="2926080" cy="50292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Exp 5: Workload Scaling (Low to Spike)</a:t>
            </a:r>
            <a:endParaRPr lang="en-US" sz="1050" dirty="0"/>
          </a:p>
        </p:txBody>
      </p:sp>
      <p:sp>
        <p:nvSpPr>
          <p:cNvPr id="20" name="Text 18"/>
          <p:cNvSpPr/>
          <p:nvPr/>
        </p:nvSpPr>
        <p:spPr>
          <a:xfrm>
            <a:off x="3749040" y="3922776"/>
            <a:ext cx="4663440" cy="502920"/>
          </a:xfrm>
          <a:prstGeom prst="rect">
            <a:avLst/>
          </a:prstGeom>
          <a:noFill/>
          <a:ln/>
        </p:spPr>
        <p:txBody>
          <a:bodyPr wrap="square" rtlCol="0" anchor="ctr"/>
          <a:lstStyle/>
          <a:p>
            <a:pPr indent="0" marL="0">
              <a:buNone/>
            </a:pPr>
            <a:r>
              <a:rPr lang="en-US" sz="950" dirty="0">
                <a:solidFill>
                  <a:srgbClr val="F8FAFC"/>
                </a:solidFill>
                <a:latin typeface="Arial" pitchFamily="34" charset="0"/>
                <a:ea typeface="Arial" pitchFamily="34" charset="-122"/>
                <a:cs typeface="Arial" pitchFamily="34" charset="-120"/>
              </a:rPr>
              <a:t>Measures migration overhead and bandwidth consumption as tenant workloads burst.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Empirical Simulation Results &amp; Comparison</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3429000"/>
        </p:xfrm>
        <a:graphic>
          <a:graphicData uri="http://schemas.openxmlformats.org/drawingml/2006/table">
            <a:tbl>
              <a:tblPr/>
              <a:tblGrid>
                <a:gridCol w="1609344"/>
                <a:gridCol w="1609344"/>
                <a:gridCol w="1609344"/>
                <a:gridCol w="1609344"/>
                <a:gridCol w="1609344"/>
              </a:tblGrid>
              <a:tr h="489857">
                <a:tc>
                  <a:txBody>
                    <a:bodyPr/>
                    <a:lstStyle/>
                    <a:p>
                      <a:pPr algn="ctr" indent="0" marL="0">
                        <a:buNone/>
                      </a:pPr>
                      <a:r>
                        <a:rPr lang="en-US" sz="950" b="1" dirty="0">
                          <a:solidFill>
                            <a:srgbClr val="06B6D4"/>
                          </a:solidFill>
                          <a:latin typeface="Arial" pitchFamily="34" charset="0"/>
                          <a:ea typeface="Arial" pitchFamily="34" charset="-122"/>
                          <a:cs typeface="Arial" pitchFamily="34" charset="-120"/>
                        </a:rPr>
                        <a:t>Metric / Parameter</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950" b="1" dirty="0">
                          <a:solidFill>
                            <a:srgbClr val="F8FAFC"/>
                          </a:solidFill>
                          <a:latin typeface="Arial" pitchFamily="34" charset="0"/>
                          <a:ea typeface="Arial" pitchFamily="34" charset="-122"/>
                          <a:cs typeface="Arial" pitchFamily="34" charset="-120"/>
                        </a:rPr>
                        <a:t>Static Allocation</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950" b="1" dirty="0">
                          <a:solidFill>
                            <a:srgbClr val="F8FAFC"/>
                          </a:solidFill>
                          <a:latin typeface="Arial" pitchFamily="34" charset="0"/>
                          <a:ea typeface="Arial" pitchFamily="34" charset="-122"/>
                          <a:cs typeface="Arial" pitchFamily="34" charset="-120"/>
                        </a:rPr>
                        <a:t>First Fit (FF)</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950" b="1" dirty="0">
                          <a:solidFill>
                            <a:srgbClr val="F8FAFC"/>
                          </a:solidFill>
                          <a:latin typeface="Arial" pitchFamily="34" charset="0"/>
                          <a:ea typeface="Arial" pitchFamily="34" charset="-122"/>
                          <a:cs typeface="Arial" pitchFamily="34" charset="-120"/>
                        </a:rPr>
                        <a:t>Best Fit (BF)</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ctr" indent="0" marL="0">
                        <a:buNone/>
                      </a:pPr>
                      <a:r>
                        <a:rPr lang="en-US" sz="950" b="1" dirty="0">
                          <a:solidFill>
                            <a:srgbClr val="10B981"/>
                          </a:solidFill>
                          <a:latin typeface="Arial" pitchFamily="34" charset="0"/>
                          <a:ea typeface="Arial" pitchFamily="34" charset="-122"/>
                          <a:cs typeface="Arial" pitchFamily="34" charset="-120"/>
                        </a:rPr>
                        <a:t>Least Loaded (LL)</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489857">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Average CPU Utilization</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94A3B8"/>
                          </a:solidFill>
                          <a:latin typeface="Arial" pitchFamily="34" charset="0"/>
                          <a:ea typeface="Arial" pitchFamily="34" charset="-122"/>
                          <a:cs typeface="Arial" pitchFamily="34" charset="-120"/>
                        </a:rPr>
                        <a:t>54.2%</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94A3B8"/>
                          </a:solidFill>
                          <a:latin typeface="Arial" pitchFamily="34" charset="0"/>
                          <a:ea typeface="Arial" pitchFamily="34" charset="-122"/>
                          <a:cs typeface="Arial" pitchFamily="34" charset="-120"/>
                        </a:rPr>
                        <a:t>51.8%</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94A3B8"/>
                          </a:solidFill>
                          <a:latin typeface="Arial" pitchFamily="34" charset="0"/>
                          <a:ea typeface="Arial" pitchFamily="34" charset="-122"/>
                          <a:cs typeface="Arial" pitchFamily="34" charset="-120"/>
                        </a:rPr>
                        <a:t>52.4%</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10B981"/>
                          </a:solidFill>
                          <a:latin typeface="Arial" pitchFamily="34" charset="0"/>
                          <a:ea typeface="Arial" pitchFamily="34" charset="-122"/>
                          <a:cs typeface="Arial" pitchFamily="34" charset="-120"/>
                        </a:rPr>
                        <a:t>50.1%</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r>
              <a:tr h="489857">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Peak Host CPU Observed</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F4444"/>
                          </a:solidFill>
                          <a:latin typeface="Arial" pitchFamily="34" charset="0"/>
                          <a:ea typeface="Arial" pitchFamily="34" charset="-122"/>
                          <a:cs typeface="Arial" pitchFamily="34" charset="-120"/>
                        </a:rPr>
                        <a:t>96.0% (Overload)</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78.0%</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79.5%</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10B981"/>
                          </a:solidFill>
                          <a:latin typeface="Arial" pitchFamily="34" charset="0"/>
                          <a:ea typeface="Arial" pitchFamily="34" charset="-122"/>
                          <a:cs typeface="Arial" pitchFamily="34" charset="-120"/>
                        </a:rPr>
                        <a:t>68.0% (Balanced)</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r>
              <a:tr h="489857">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Cluster Load Variance (σ)</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F4444"/>
                          </a:solidFill>
                          <a:latin typeface="Arial" pitchFamily="34" charset="0"/>
                          <a:ea typeface="Arial" pitchFamily="34" charset="-122"/>
                          <a:cs typeface="Arial" pitchFamily="34" charset="-120"/>
                        </a:rPr>
                        <a:t>18.4</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11.2</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9.8</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10B981"/>
                          </a:solidFill>
                          <a:latin typeface="Arial" pitchFamily="34" charset="0"/>
                          <a:ea typeface="Arial" pitchFamily="34" charset="-122"/>
                          <a:cs typeface="Arial" pitchFamily="34" charset="-120"/>
                        </a:rPr>
                        <a:t>4.6 (Best)</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r>
              <a:tr h="489857">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Migration Success Rate</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94A3B8"/>
                          </a:solidFill>
                          <a:latin typeface="Arial" pitchFamily="34" charset="0"/>
                          <a:ea typeface="Arial" pitchFamily="34" charset="-122"/>
                          <a:cs typeface="Arial" pitchFamily="34" charset="-120"/>
                        </a:rPr>
                        <a:t>N/A (0 Migrations)</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10B981"/>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r>
              <a:tr h="489857">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Mean Downtime per VM</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94A3B8"/>
                          </a:solidFill>
                          <a:latin typeface="Arial" pitchFamily="34" charset="0"/>
                          <a:ea typeface="Arial" pitchFamily="34" charset="-122"/>
                          <a:cs typeface="Arial" pitchFamily="34" charset="-120"/>
                        </a:rPr>
                        <a:t>0 ms</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142 ms</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158 ms</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10B981"/>
                          </a:solidFill>
                          <a:latin typeface="Arial" pitchFamily="34" charset="0"/>
                          <a:ea typeface="Arial" pitchFamily="34" charset="-122"/>
                          <a:cs typeface="Arial" pitchFamily="34" charset="-120"/>
                        </a:rPr>
                        <a:t>136 ms</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r>
              <a:tr h="489857">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Fault Recovery Rate (Host Failure)</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EF4444"/>
                          </a:solidFill>
                          <a:latin typeface="Arial" pitchFamily="34" charset="0"/>
                          <a:ea typeface="Arial" pitchFamily="34" charset="-122"/>
                          <a:cs typeface="Arial" pitchFamily="34" charset="-120"/>
                        </a:rPr>
                        <a:t>0.0% (Total Outage)</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F8FAFC"/>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algn="ctr" indent="0" marL="0">
                        <a:buNone/>
                      </a:pPr>
                      <a:r>
                        <a:rPr lang="en-US" sz="950" dirty="0">
                          <a:solidFill>
                            <a:srgbClr val="10B981"/>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Cost Analysis: Simulated IaaS vs Real Hosting</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sp>
      <p:sp>
        <p:nvSpPr>
          <p:cNvPr id="7" name="Text 5"/>
          <p:cNvSpPr/>
          <p:nvPr/>
        </p:nvSpPr>
        <p:spPr>
          <a:xfrm>
            <a:off x="731520" y="1234440"/>
            <a:ext cx="3520440" cy="274320"/>
          </a:xfrm>
          <a:prstGeom prst="rect">
            <a:avLst/>
          </a:prstGeom>
          <a:noFill/>
          <a:ln/>
        </p:spPr>
        <p:txBody>
          <a:bodyPr wrap="square" rtlCol="0" anchor="ctr"/>
          <a:lstStyle/>
          <a:p>
            <a:pPr indent="0" marL="0">
              <a:buNone/>
            </a:pPr>
            <a:r>
              <a:rPr lang="en-US" sz="1300" b="1" dirty="0">
                <a:solidFill>
                  <a:srgbClr val="06B6D4"/>
                </a:solidFill>
                <a:latin typeface="Arial" pitchFamily="34" charset="0"/>
                <a:ea typeface="Arial" pitchFamily="34" charset="-122"/>
                <a:cs typeface="Arial" pitchFamily="34" charset="-120"/>
              </a:rPr>
              <a:t>A. Hypothetical Cloud IaaS Cost Model</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indent="0" marL="0">
              <a:lnSpc>
                <a:spcPts val="1300"/>
              </a:lnSpc>
              <a:buNone/>
            </a:pPr>
            <a:r>
              <a:rPr lang="en-US" sz="900" dirty="0">
                <a:solidFill>
                  <a:srgbClr val="F8FAFC"/>
                </a:solidFill>
                <a:latin typeface="Arial" pitchFamily="34" charset="0"/>
                <a:ea typeface="Arial" pitchFamily="34" charset="-122"/>
                <a:cs typeface="Arial" pitchFamily="34" charset="-120"/>
              </a:rPr>
              <a:t>• Modeled Server Cost: $0.080 / active host-hour</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Modeled Storage Rate: $0.00015 / GB-hour</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Baseline (6 Active Hosts):</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6 hosts × $0.080 × 730 hrs = $350.40 / month</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Consolidation Mode (Underload Consolidation):</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Migrating VMs from underloaded hosts allows powering down 2 host blades (40% power reduction).</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4 active hosts × $0.080 + 2 idle = $233.60 / month</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Estimated Monthly Savings: ~$116.80 (33.3% savings).</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(Strictly a hypothetical financial model output).</a:t>
            </a:r>
            <a:endParaRPr lang="en-US" sz="90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sp>
      <p:sp>
        <p:nvSpPr>
          <p:cNvPr id="10" name="Text 8"/>
          <p:cNvSpPr/>
          <p:nvPr/>
        </p:nvSpPr>
        <p:spPr>
          <a:xfrm>
            <a:off x="4892040" y="1234440"/>
            <a:ext cx="3520440" cy="27432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B. Actual Project Hosting Cost</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indent="0" marL="0">
              <a:lnSpc>
                <a:spcPts val="1300"/>
              </a:lnSpc>
              <a:buNone/>
            </a:pPr>
            <a:r>
              <a:rPr lang="en-US" sz="900" dirty="0">
                <a:solidFill>
                  <a:srgbClr val="F8FAFC"/>
                </a:solidFill>
                <a:latin typeface="Arial" pitchFamily="34" charset="0"/>
                <a:ea typeface="Arial" pitchFamily="34" charset="-122"/>
                <a:cs typeface="Arial" pitchFamily="34" charset="-120"/>
              </a:rPr>
              <a:t>• Actual Production Host: Cloudflare Pages</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Official Cloudflare Plan: Free Tier</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 Unlimited static requests</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- 500 builds per month</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 Custom domain SSL support</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Actual Cost to Student / Institution: $0.00</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 Transparency Note:</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No AWS EC2, Azure, or GCP charges are incurred because zero remote cloud VMs are provisioned. The entire simulation runs client-side.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Project Limitations &amp; Future Scope</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sp>
      <p:sp>
        <p:nvSpPr>
          <p:cNvPr id="7" name="Text 5"/>
          <p:cNvSpPr/>
          <p:nvPr/>
        </p:nvSpPr>
        <p:spPr>
          <a:xfrm>
            <a:off x="731520" y="1234440"/>
            <a:ext cx="3520440" cy="27432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Current Simulation Limitations</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indent="0" marL="0">
              <a:lnSpc>
                <a:spcPts val="1300"/>
              </a:lnSpc>
              <a:buNone/>
            </a:pPr>
            <a:r>
              <a:rPr lang="en-US" sz="900" dirty="0">
                <a:solidFill>
                  <a:srgbClr val="F8FAFC"/>
                </a:solidFill>
                <a:latin typeface="Arial" pitchFamily="34" charset="0"/>
                <a:ea typeface="Arial" pitchFamily="34" charset="-122"/>
                <a:cs typeface="Arial" pitchFamily="34" charset="-120"/>
              </a:rPr>
              <a:t>1. In-Memory Hypervisor Model:</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Does not execute real Linux KVM / QEMU memory page dirtying bitmasks.</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2. Network Topology Simplification:</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Models uniform 10 Gbps Top-of-Rack fabric without inter-rack spine-leaf packet drops.</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3. Discrete Clock Steps:</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Workloads advance per simulation tick rather than microsecond hardware interrupts.</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4. Single-Tab State Scope:</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Cluster state resides in browser tab memory and does not synchronize across distributed users.</a:t>
            </a:r>
            <a:endParaRPr lang="en-US" sz="90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sp>
      <p:sp>
        <p:nvSpPr>
          <p:cNvPr id="10" name="Text 8"/>
          <p:cNvSpPr/>
          <p:nvPr/>
        </p:nvSpPr>
        <p:spPr>
          <a:xfrm>
            <a:off x="4892040" y="1234440"/>
            <a:ext cx="3520440" cy="274320"/>
          </a:xfrm>
          <a:prstGeom prst="rect">
            <a:avLst/>
          </a:prstGeom>
          <a:noFill/>
          <a:ln/>
        </p:spPr>
        <p:txBody>
          <a:bodyPr wrap="square" rtlCol="0" anchor="ctr"/>
          <a:lstStyle/>
          <a:p>
            <a:pPr indent="0" marL="0">
              <a:buNone/>
            </a:pPr>
            <a:r>
              <a:rPr lang="en-US" sz="1300" b="1" dirty="0">
                <a:solidFill>
                  <a:srgbClr val="06B6D4"/>
                </a:solidFill>
                <a:latin typeface="Arial" pitchFamily="34" charset="0"/>
                <a:ea typeface="Arial" pitchFamily="34" charset="-122"/>
                <a:cs typeface="Arial" pitchFamily="34" charset="-120"/>
              </a:rPr>
              <a:t>Future Engineering Enhancements</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indent="0" marL="0">
              <a:lnSpc>
                <a:spcPts val="1300"/>
              </a:lnSpc>
              <a:buNone/>
            </a:pPr>
            <a:r>
              <a:rPr lang="en-US" sz="900" dirty="0">
                <a:solidFill>
                  <a:srgbClr val="F8FAFC"/>
                </a:solidFill>
                <a:latin typeface="Arial" pitchFamily="34" charset="0"/>
                <a:ea typeface="Arial" pitchFamily="34" charset="-122"/>
                <a:cs typeface="Arial" pitchFamily="34" charset="-120"/>
              </a:rPr>
              <a:t>1. OpenStack / Proxmox API Bridge:</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Connect the decision engine to real libvirt hypervisors via REST APIs.</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2. Deep Reinforcement Learning (DRL):</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Train a neural network policy (PPO/DQN) to predict VM hotspots before they cross threshold.</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3. Multi-Tier Energy Optimization:</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Incorporate dynamic voltage and frequency scaling (DVFS) models into server power calculations.</a:t>
            </a:r>
            <a:endParaRPr lang="en-US" sz="900" dirty="0"/>
          </a:p>
          <a:p>
            <a:pPr indent="0" marL="0">
              <a:lnSpc>
                <a:spcPts val="1300"/>
              </a:lnSpc>
              <a:buNone/>
            </a:pP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4. SLA-Aware Live Migration:</a:t>
            </a:r>
            <a:endParaRPr lang="en-US" sz="900" dirty="0"/>
          </a:p>
          <a:p>
            <a:pPr indent="0" marL="0">
              <a:lnSpc>
                <a:spcPts val="1300"/>
              </a:lnSpc>
              <a:buNone/>
            </a:pPr>
            <a:r>
              <a:rPr lang="en-US" sz="900" dirty="0">
                <a:solidFill>
                  <a:srgbClr val="F8FAFC"/>
                </a:solidFill>
                <a:latin typeface="Arial" pitchFamily="34" charset="0"/>
                <a:ea typeface="Arial" pitchFamily="34" charset="-122"/>
                <a:cs typeface="Arial" pitchFamily="34" charset="-120"/>
              </a:rPr>
              <a:t>Incorporate strict penalty cost functions for tenant response latency degradation.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Assessment Marking Alignment (15 Marks)</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8046720" cy="749808"/>
          </a:xfrm>
          <a:prstGeom prst="roundRect">
            <a:avLst>
              <a:gd name="adj" fmla="val 7317"/>
            </a:avLst>
          </a:prstGeom>
          <a:solidFill>
            <a:srgbClr val="0F172A"/>
          </a:solidFill>
          <a:ln w="12700">
            <a:solidFill>
              <a:srgbClr val="334155"/>
            </a:solidFill>
            <a:prstDash val="solid"/>
          </a:ln>
        </p:spPr>
      </p:sp>
      <p:sp>
        <p:nvSpPr>
          <p:cNvPr id="7" name="Text 5"/>
          <p:cNvSpPr/>
          <p:nvPr/>
        </p:nvSpPr>
        <p:spPr>
          <a:xfrm>
            <a:off x="731520" y="1143000"/>
            <a:ext cx="7680960" cy="22860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Part 1: Problem Analysis &amp; Cloud Design — 2 Marks</a:t>
            </a:r>
            <a:endParaRPr lang="en-US" sz="1050" dirty="0"/>
          </a:p>
        </p:txBody>
      </p:sp>
      <p:sp>
        <p:nvSpPr>
          <p:cNvPr id="8" name="Text 6"/>
          <p:cNvSpPr/>
          <p:nvPr/>
        </p:nvSpPr>
        <p:spPr>
          <a:xfrm>
            <a:off x="731520" y="1389888"/>
            <a:ext cx="7680960" cy="411480"/>
          </a:xfrm>
          <a:prstGeom prst="rect">
            <a:avLst/>
          </a:prstGeom>
          <a:noFill/>
          <a:ln/>
        </p:spPr>
        <p:txBody>
          <a:bodyPr wrap="square" rtlCol="0" anchor="ctr"/>
          <a:lstStyle/>
          <a:p>
            <a:pPr indent="0" marL="0">
              <a:buNone/>
            </a:pPr>
            <a:r>
              <a:rPr lang="en-US" sz="900" dirty="0">
                <a:solidFill>
                  <a:srgbClr val="F8FAFC"/>
                </a:solidFill>
                <a:latin typeface="Arial" pitchFamily="34" charset="0"/>
                <a:ea typeface="Arial" pitchFamily="34" charset="-122"/>
                <a:cs typeface="Arial" pitchFamily="34" charset="-120"/>
              </a:rPr>
              <a:t>Rigorous problem definition, functional/non-functional specs, IaaS model justification, and architecture diagram.</a:t>
            </a:r>
            <a:endParaRPr lang="en-US" sz="900" dirty="0"/>
          </a:p>
        </p:txBody>
      </p:sp>
      <p:sp>
        <p:nvSpPr>
          <p:cNvPr id="9" name="Shape 7"/>
          <p:cNvSpPr/>
          <p:nvPr/>
        </p:nvSpPr>
        <p:spPr>
          <a:xfrm>
            <a:off x="548640" y="1965960"/>
            <a:ext cx="8046720" cy="749808"/>
          </a:xfrm>
          <a:prstGeom prst="roundRect">
            <a:avLst>
              <a:gd name="adj" fmla="val 7317"/>
            </a:avLst>
          </a:prstGeom>
          <a:solidFill>
            <a:srgbClr val="0F172A"/>
          </a:solidFill>
          <a:ln w="12700">
            <a:solidFill>
              <a:srgbClr val="334155"/>
            </a:solidFill>
            <a:prstDash val="solid"/>
          </a:ln>
        </p:spPr>
      </p:sp>
      <p:sp>
        <p:nvSpPr>
          <p:cNvPr id="10" name="Text 8"/>
          <p:cNvSpPr/>
          <p:nvPr/>
        </p:nvSpPr>
        <p:spPr>
          <a:xfrm>
            <a:off x="731520" y="2011680"/>
            <a:ext cx="7680960" cy="22860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Part 2: Implementation &amp; Technical Execution — 8 Marks</a:t>
            </a:r>
            <a:endParaRPr lang="en-US" sz="1050" dirty="0"/>
          </a:p>
        </p:txBody>
      </p:sp>
      <p:sp>
        <p:nvSpPr>
          <p:cNvPr id="11" name="Text 9"/>
          <p:cNvSpPr/>
          <p:nvPr/>
        </p:nvSpPr>
        <p:spPr>
          <a:xfrm>
            <a:off x="731520" y="2258568"/>
            <a:ext cx="7680960" cy="411480"/>
          </a:xfrm>
          <a:prstGeom prst="rect">
            <a:avLst/>
          </a:prstGeom>
          <a:noFill/>
          <a:ln/>
        </p:spPr>
        <p:txBody>
          <a:bodyPr wrap="square" rtlCol="0" anchor="ctr"/>
          <a:lstStyle/>
          <a:p>
            <a:pPr indent="0" marL="0">
              <a:buNone/>
            </a:pPr>
            <a:r>
              <a:rPr lang="en-US" sz="900" dirty="0">
                <a:solidFill>
                  <a:srgbClr val="F8FAFC"/>
                </a:solidFill>
                <a:latin typeface="Arial" pitchFamily="34" charset="0"/>
                <a:ea typeface="Arial" pitchFamily="34" charset="-122"/>
                <a:cs typeface="Arial" pitchFamily="34" charset="-120"/>
              </a:rPr>
              <a:t>Interactive frontend on Cloudflare Pages, 3 LB algorithms, live migration engine, fault-tolerance recovery, and 15 passing Vitest unit tests.</a:t>
            </a:r>
            <a:endParaRPr lang="en-US" sz="900" dirty="0"/>
          </a:p>
        </p:txBody>
      </p:sp>
      <p:sp>
        <p:nvSpPr>
          <p:cNvPr id="12" name="Shape 10"/>
          <p:cNvSpPr/>
          <p:nvPr/>
        </p:nvSpPr>
        <p:spPr>
          <a:xfrm>
            <a:off x="548640" y="2834640"/>
            <a:ext cx="8046720" cy="749808"/>
          </a:xfrm>
          <a:prstGeom prst="roundRect">
            <a:avLst>
              <a:gd name="adj" fmla="val 7317"/>
            </a:avLst>
          </a:prstGeom>
          <a:solidFill>
            <a:srgbClr val="0F172A"/>
          </a:solidFill>
          <a:ln w="12700">
            <a:solidFill>
              <a:srgbClr val="334155"/>
            </a:solidFill>
            <a:prstDash val="solid"/>
          </a:ln>
        </p:spPr>
      </p:sp>
      <p:sp>
        <p:nvSpPr>
          <p:cNvPr id="13" name="Text 11"/>
          <p:cNvSpPr/>
          <p:nvPr/>
        </p:nvSpPr>
        <p:spPr>
          <a:xfrm>
            <a:off x="731520" y="2880360"/>
            <a:ext cx="7680960" cy="22860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Part 3: Results &amp; Technical Evaluation — 2 Marks</a:t>
            </a:r>
            <a:endParaRPr lang="en-US" sz="1050" dirty="0"/>
          </a:p>
        </p:txBody>
      </p:sp>
      <p:sp>
        <p:nvSpPr>
          <p:cNvPr id="14" name="Text 12"/>
          <p:cNvSpPr/>
          <p:nvPr/>
        </p:nvSpPr>
        <p:spPr>
          <a:xfrm>
            <a:off x="731520" y="3127248"/>
            <a:ext cx="7680960" cy="411480"/>
          </a:xfrm>
          <a:prstGeom prst="rect">
            <a:avLst/>
          </a:prstGeom>
          <a:noFill/>
          <a:ln/>
        </p:spPr>
        <p:txBody>
          <a:bodyPr wrap="square" rtlCol="0" anchor="ctr"/>
          <a:lstStyle/>
          <a:p>
            <a:pPr indent="0" marL="0">
              <a:buNone/>
            </a:pPr>
            <a:r>
              <a:rPr lang="en-US" sz="900" dirty="0">
                <a:solidFill>
                  <a:srgbClr val="F8FAFC"/>
                </a:solidFill>
                <a:latin typeface="Arial" pitchFamily="34" charset="0"/>
                <a:ea typeface="Arial" pitchFamily="34" charset="-122"/>
                <a:cs typeface="Arial" pitchFamily="34" charset="-120"/>
              </a:rPr>
              <a:t>5 controlled experiments, baseline static vs dynamic comparisons, variance metrics, downtime formulas, and hypothetical cost models.</a:t>
            </a:r>
            <a:endParaRPr lang="en-US" sz="900" dirty="0"/>
          </a:p>
        </p:txBody>
      </p:sp>
      <p:sp>
        <p:nvSpPr>
          <p:cNvPr id="15" name="Shape 13"/>
          <p:cNvSpPr/>
          <p:nvPr/>
        </p:nvSpPr>
        <p:spPr>
          <a:xfrm>
            <a:off x="548640" y="3703320"/>
            <a:ext cx="8046720" cy="749808"/>
          </a:xfrm>
          <a:prstGeom prst="roundRect">
            <a:avLst>
              <a:gd name="adj" fmla="val 7317"/>
            </a:avLst>
          </a:prstGeom>
          <a:solidFill>
            <a:srgbClr val="0F172A"/>
          </a:solidFill>
          <a:ln w="12700">
            <a:solidFill>
              <a:srgbClr val="334155"/>
            </a:solidFill>
            <a:prstDash val="solid"/>
          </a:ln>
        </p:spPr>
      </p:sp>
      <p:sp>
        <p:nvSpPr>
          <p:cNvPr id="16" name="Text 14"/>
          <p:cNvSpPr/>
          <p:nvPr/>
        </p:nvSpPr>
        <p:spPr>
          <a:xfrm>
            <a:off x="731520" y="3749040"/>
            <a:ext cx="7680960" cy="22860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Part 4: Viva Voce &amp; Technical Defense — 3 Marks</a:t>
            </a:r>
            <a:endParaRPr lang="en-US" sz="1050" dirty="0"/>
          </a:p>
        </p:txBody>
      </p:sp>
      <p:sp>
        <p:nvSpPr>
          <p:cNvPr id="17" name="Text 15"/>
          <p:cNvSpPr/>
          <p:nvPr/>
        </p:nvSpPr>
        <p:spPr>
          <a:xfrm>
            <a:off x="731520" y="3995928"/>
            <a:ext cx="7680960" cy="411480"/>
          </a:xfrm>
          <a:prstGeom prst="rect">
            <a:avLst/>
          </a:prstGeom>
          <a:noFill/>
          <a:ln/>
        </p:spPr>
        <p:txBody>
          <a:bodyPr wrap="square" rtlCol="0" anchor="ctr"/>
          <a:lstStyle/>
          <a:p>
            <a:pPr indent="0" marL="0">
              <a:buNone/>
            </a:pPr>
            <a:r>
              <a:rPr lang="en-US" sz="900" dirty="0">
                <a:solidFill>
                  <a:srgbClr val="F8FAFC"/>
                </a:solidFill>
                <a:latin typeface="Arial" pitchFamily="34" charset="0"/>
                <a:ea typeface="Arial" pitchFamily="34" charset="-122"/>
                <a:cs typeface="Arial" pitchFamily="34" charset="-120"/>
              </a:rPr>
              <a:t>Comprehensive 25+ question repository, deep understanding of virtualization, live migration downtime, and academic honesty defense.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D18"/>
        </a:solidFill>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indent="0" marL="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indent="0" marL="0">
              <a:buNone/>
            </a:pPr>
            <a:r>
              <a:rPr lang="en-US" sz="1800" b="1" dirty="0">
                <a:solidFill>
                  <a:srgbClr val="F8FAFC"/>
                </a:solidFill>
                <a:latin typeface="Arial" pitchFamily="34" charset="0"/>
                <a:ea typeface="Arial" pitchFamily="34" charset="-122"/>
                <a:cs typeface="Arial" pitchFamily="34" charset="-120"/>
              </a:rPr>
              <a:t>Conclusion &amp; Summary of Contributions</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sp>
      <p:sp>
        <p:nvSpPr>
          <p:cNvPr id="5" name="Text 3"/>
          <p:cNvSpPr/>
          <p:nvPr/>
        </p:nvSpPr>
        <p:spPr>
          <a:xfrm>
            <a:off x="548640" y="4800600"/>
            <a:ext cx="8046720" cy="228600"/>
          </a:xfrm>
          <a:prstGeom prst="rect">
            <a:avLst/>
          </a:prstGeom>
          <a:noFill/>
          <a:ln/>
        </p:spPr>
        <p:txBody>
          <a:bodyPr wrap="square" rtlCol="0" anchor="ctr"/>
          <a:lstStyle/>
          <a:p>
            <a:pPr indent="0" marL="0">
              <a:buNone/>
            </a:pPr>
            <a:r>
              <a:rPr lang="en-US" sz="800" i="1" dirty="0">
                <a:solidFill>
                  <a:srgbClr val="94A3B8"/>
                </a:solidFill>
                <a:latin typeface="Arial" pitchFamily="34" charset="0"/>
                <a:ea typeface="Arial" pitchFamily="34" charset="-122"/>
                <a:cs typeface="Arial" pitchFamily="34" charset="-120"/>
              </a:rPr>
              <a:t>SIMULATION MODE — All VMs, hosts, and migrations are simulated in browser memory. Deployed on Cloudflare Pages.</a:t>
            </a:r>
            <a:endParaRPr lang="en-US" sz="800" dirty="0"/>
          </a:p>
        </p:txBody>
      </p:sp>
      <p:sp>
        <p:nvSpPr>
          <p:cNvPr id="6" name="Shape 4"/>
          <p:cNvSpPr/>
          <p:nvPr/>
        </p:nvSpPr>
        <p:spPr>
          <a:xfrm>
            <a:off x="548640" y="1097280"/>
            <a:ext cx="8046720" cy="3566160"/>
          </a:xfrm>
          <a:prstGeom prst="roundRect">
            <a:avLst>
              <a:gd name="adj" fmla="val 2051"/>
            </a:avLst>
          </a:prstGeom>
          <a:solidFill>
            <a:srgbClr val="0F172A"/>
          </a:solidFill>
          <a:ln w="12700">
            <a:solidFill>
              <a:srgbClr val="334155"/>
            </a:solidFill>
            <a:prstDash val="solid"/>
          </a:ln>
        </p:spPr>
      </p:sp>
      <p:sp>
        <p:nvSpPr>
          <p:cNvPr id="7" name="Text 5"/>
          <p:cNvSpPr/>
          <p:nvPr/>
        </p:nvSpPr>
        <p:spPr>
          <a:xfrm>
            <a:off x="731520" y="1280160"/>
            <a:ext cx="768096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Key Takeaways &amp; Assessment Summary</a:t>
            </a:r>
            <a:endParaRPr lang="en-US" sz="1300" dirty="0"/>
          </a:p>
        </p:txBody>
      </p:sp>
      <p:sp>
        <p:nvSpPr>
          <p:cNvPr id="8" name="Text 6"/>
          <p:cNvSpPr/>
          <p:nvPr/>
        </p:nvSpPr>
        <p:spPr>
          <a:xfrm>
            <a:off x="731520" y="1691640"/>
            <a:ext cx="7680960" cy="2743200"/>
          </a:xfrm>
          <a:prstGeom prst="rect">
            <a:avLst/>
          </a:prstGeom>
          <a:noFill/>
          <a:ln/>
        </p:spPr>
        <p:txBody>
          <a:bodyPr wrap="square" rtlCol="0" anchor="ctr"/>
          <a:lstStyle/>
          <a:p>
            <a:pPr indent="0" marL="0">
              <a:lnSpc>
                <a:spcPts val="1600"/>
              </a:lnSpc>
              <a:buNone/>
            </a:pPr>
            <a:r>
              <a:rPr lang="en-US" sz="1000" dirty="0">
                <a:solidFill>
                  <a:srgbClr val="F8FAFC"/>
                </a:solidFill>
                <a:latin typeface="Arial" pitchFamily="34" charset="0"/>
                <a:ea typeface="Arial" pitchFamily="34" charset="-122"/>
                <a:cs typeface="Arial" pitchFamily="34" charset="-120"/>
              </a:rPr>
              <a:t>✓ Demonstrated that proactive VM migration reduces peak host CPU by up to 28% and cluster load variance by 75% compared to static allocation.</a:t>
            </a:r>
            <a:endParaRPr lang="en-US" sz="1000" dirty="0"/>
          </a:p>
          <a:p>
            <a:pPr indent="0" marL="0">
              <a:lnSpc>
                <a:spcPts val="1600"/>
              </a:lnSpc>
              <a:buNone/>
            </a:pPr>
            <a:endParaRPr lang="en-US" sz="1000" dirty="0"/>
          </a:p>
          <a:p>
            <a:pPr indent="0" marL="0">
              <a:lnSpc>
                <a:spcPts val="1600"/>
              </a:lnSpc>
              <a:buNone/>
            </a:pPr>
            <a:r>
              <a:rPr lang="en-US" sz="1000" dirty="0">
                <a:solidFill>
                  <a:srgbClr val="F8FAFC"/>
                </a:solidFill>
                <a:latin typeface="Arial" pitchFamily="34" charset="0"/>
                <a:ea typeface="Arial" pitchFamily="34" charset="-122"/>
                <a:cs typeface="Arial" pitchFamily="34" charset="-120"/>
              </a:rPr>
              <a:t>✓ Least Loaded heuristic provides the best multi-resource cluster balance (Load Score = 0.5 CPU + 0.4 RAM + 0.1 Storage).</a:t>
            </a:r>
            <a:endParaRPr lang="en-US" sz="1000" dirty="0"/>
          </a:p>
          <a:p>
            <a:pPr indent="0" marL="0">
              <a:lnSpc>
                <a:spcPts val="1600"/>
              </a:lnSpc>
              <a:buNone/>
            </a:pPr>
            <a:endParaRPr lang="en-US" sz="1000" dirty="0"/>
          </a:p>
          <a:p>
            <a:pPr indent="0" marL="0">
              <a:lnSpc>
                <a:spcPts val="1600"/>
              </a:lnSpc>
              <a:buNone/>
            </a:pPr>
            <a:r>
              <a:rPr lang="en-US" sz="1000" dirty="0">
                <a:solidFill>
                  <a:srgbClr val="F8FAFC"/>
                </a:solidFill>
                <a:latin typeface="Arial" pitchFamily="34" charset="0"/>
                <a:ea typeface="Arial" pitchFamily="34" charset="-122"/>
                <a:cs typeface="Arial" pitchFamily="34" charset="-120"/>
              </a:rPr>
              <a:t>✓ Automated emergency recovery successfully restores 100% of affected VMs when spare cluster headroom is available, with average downtime under 6.5 seconds.</a:t>
            </a:r>
            <a:endParaRPr lang="en-US" sz="1000" dirty="0"/>
          </a:p>
          <a:p>
            <a:pPr indent="0" marL="0">
              <a:lnSpc>
                <a:spcPts val="1600"/>
              </a:lnSpc>
              <a:buNone/>
            </a:pPr>
            <a:endParaRPr lang="en-US" sz="1000" dirty="0"/>
          </a:p>
          <a:p>
            <a:pPr indent="0" marL="0">
              <a:lnSpc>
                <a:spcPts val="1600"/>
              </a:lnSpc>
              <a:buNone/>
            </a:pPr>
            <a:r>
              <a:rPr lang="en-US" sz="1000" dirty="0">
                <a:solidFill>
                  <a:srgbClr val="F8FAFC"/>
                </a:solidFill>
                <a:latin typeface="Arial" pitchFamily="34" charset="0"/>
                <a:ea typeface="Arial" pitchFamily="34" charset="-122"/>
                <a:cs typeface="Arial" pitchFamily="34" charset="-120"/>
              </a:rPr>
              <a:t>✓ Built an enterprise-grade, responsive dashboard with zero remote cloud expenses via Cloudflare Pages.</a:t>
            </a:r>
            <a:endParaRPr lang="en-US" sz="1000" dirty="0"/>
          </a:p>
          <a:p>
            <a:pPr indent="0" marL="0">
              <a:lnSpc>
                <a:spcPts val="1600"/>
              </a:lnSpc>
              <a:buNone/>
            </a:pPr>
            <a:endParaRPr lang="en-US" sz="1000" dirty="0"/>
          </a:p>
          <a:p>
            <a:pPr indent="0" marL="0">
              <a:lnSpc>
                <a:spcPts val="1600"/>
              </a:lnSpc>
              <a:buNone/>
            </a:pPr>
            <a:r>
              <a:rPr lang="en-US" sz="1000" dirty="0">
                <a:solidFill>
                  <a:srgbClr val="F8FAFC"/>
                </a:solidFill>
                <a:latin typeface="Arial" pitchFamily="34" charset="0"/>
                <a:ea typeface="Arial" pitchFamily="34" charset="-122"/>
                <a:cs typeface="Arial" pitchFamily="34" charset="-120"/>
              </a:rPr>
              <a:t>✓ 15 automated unit tests pass in 23ms, proving algorithmic correctness and edge-case resilience.</a:t>
            </a:r>
            <a:endParaRPr lang="en-US" sz="1000" dirty="0"/>
          </a:p>
          <a:p>
            <a:pPr indent="0" marL="0">
              <a:lnSpc>
                <a:spcPts val="1600"/>
              </a:lnSpc>
              <a:buNone/>
            </a:pPr>
            <a:endParaRPr lang="en-US" sz="1000" dirty="0"/>
          </a:p>
          <a:p>
            <a:pPr indent="0" marL="0">
              <a:lnSpc>
                <a:spcPts val="1600"/>
              </a:lnSpc>
              <a:buNone/>
            </a:pPr>
            <a:r>
              <a:rPr lang="en-US" sz="1000" dirty="0">
                <a:solidFill>
                  <a:srgbClr val="F8FAFC"/>
                </a:solidFill>
                <a:latin typeface="Arial" pitchFamily="34" charset="0"/>
                <a:ea typeface="Arial" pitchFamily="34" charset="-122"/>
                <a:cs typeface="Arial" pitchFamily="34" charset="-120"/>
              </a:rPr>
              <a:t>Thank you! Ready for Evaluator Viva Voce Questions.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Cloud Computing Case Study Assessment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Assuring Fault-Tolerance through VM Migration-Based Load Balancing in the Cloud</dc:title>
  <dc:subject>PptxGenJS Presentation</dc:subject>
  <dc:creator>PptxGenJS</dc:creator>
  <cp:lastModifiedBy>PptxGenJS</cp:lastModifiedBy>
  <cp:revision>1</cp:revision>
  <dcterms:created xsi:type="dcterms:W3CDTF">2026-10-12T16:58:38Z</dcterms:created>
  <dcterms:modified xsi:type="dcterms:W3CDTF">2026-10-12T16:58:38Z</dcterms:modified>
</cp:coreProperties>
</file>